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3200400" y="1645920"/>
            <a:ext cx="5669280" cy="5669280"/>
          </a:xfrm>
          <a:prstGeom prst="ellipse">
            <a:avLst/>
          </a:prstGeom>
          <a:solidFill>
            <a:srgbClr val="1C6E8C">
              <a:alpha val="20000"/>
            </a:srgbClr>
          </a:solidFill>
          <a:ln w="12700">
            <a:solidFill>
              <a:srgbClr val="1C6E8C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4206240" y="2286000"/>
            <a:ext cx="4114801" cy="4114800"/>
          </a:xfrm>
          <a:prstGeom prst="ellipse">
            <a:avLst/>
          </a:prstGeom>
          <a:solidFill>
            <a:srgbClr val="4AA8C4">
              <a:alpha val="12000"/>
            </a:srgbClr>
          </a:solidFill>
          <a:ln w="12700">
            <a:solidFill>
              <a:srgbClr val="4AA8C4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502919" y="735464"/>
            <a:ext cx="8138161" cy="97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3000">
                <a:solidFill>
                  <a:srgbClr val="C8E8F0"/>
                </a:solidFill>
              </a:defRPr>
            </a:pPr>
            <a:r>
              <a:t>Regularized and Stable Lexical Classification</a:t>
            </a:r>
          </a:p>
          <a:p>
            <a:pPr>
              <a:defRPr b="1" sz="3000">
                <a:solidFill>
                  <a:srgbClr val="C8E8F0"/>
                </a:solidFill>
              </a:defRPr>
            </a:pPr>
            <a:r>
              <a:t>in High-Dimensional Semantic Feature Spaces</a:t>
            </a:r>
          </a:p>
        </p:txBody>
      </p:sp>
      <p:sp>
        <p:nvSpPr>
          <p:cNvPr id="23" name="Shape 3"/>
          <p:cNvSpPr/>
          <p:nvPr/>
        </p:nvSpPr>
        <p:spPr>
          <a:xfrm>
            <a:off x="457200" y="1737360"/>
            <a:ext cx="8229600" cy="27433"/>
          </a:xfrm>
          <a:prstGeom prst="rect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5"/>
          <p:cNvSpPr txBox="1"/>
          <p:nvPr/>
        </p:nvSpPr>
        <p:spPr>
          <a:xfrm>
            <a:off x="502919" y="3933497"/>
            <a:ext cx="6309361" cy="819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6B8EA0"/>
                </a:solidFill>
              </a:defRPr>
            </a:pPr>
            <a:r>
              <a:t>Michela Deodati &amp; Leonardo Pratelli</a:t>
            </a:r>
          </a:p>
          <a:p>
            <a:pPr>
              <a:defRPr sz="1200">
                <a:solidFill>
                  <a:srgbClr val="6B8EA0"/>
                </a:solidFill>
              </a:defRPr>
            </a:pPr>
            <a:r>
              <a:t>Based on Testa (2026) · Binder et al. (2016)</a:t>
            </a:r>
          </a:p>
          <a:p>
            <a:pPr>
              <a:defRPr sz="1200">
                <a:solidFill>
                  <a:srgbClr val="6B8EA0"/>
                </a:solidFill>
              </a:defRPr>
            </a:pPr>
            <a:r>
              <a:t>Supervisor: Prof.ssa Francesca Chiaromonte</a:t>
            </a:r>
          </a:p>
          <a:p>
            <a:pPr>
              <a:defRPr sz="1200">
                <a:solidFill>
                  <a:srgbClr val="6B8EA0"/>
                </a:solidFill>
              </a:defRPr>
            </a:pPr>
            <a:r>
              <a:t>Statistical Learning &amp; Large Data II — Sant'Anna Pisa, A.Y. 2025–2026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1"/>
          <p:cNvSpPr/>
          <p:nvPr/>
        </p:nvSpPr>
        <p:spPr>
          <a:xfrm>
            <a:off x="256032" y="201168"/>
            <a:ext cx="1920240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2"/>
          <p:cNvSpPr txBox="1"/>
          <p:nvPr/>
        </p:nvSpPr>
        <p:spPr>
          <a:xfrm>
            <a:off x="256032" y="2656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MOTIVATION &amp; DATA</a:t>
            </a:r>
          </a:p>
        </p:txBody>
      </p:sp>
      <p:sp>
        <p:nvSpPr>
          <p:cNvPr id="29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Research Question &amp; Dataset</a:t>
            </a:r>
          </a:p>
        </p:txBody>
      </p:sp>
      <p:sp>
        <p:nvSpPr>
          <p:cNvPr id="30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2 / 15</a:t>
            </a:r>
          </a:p>
        </p:txBody>
      </p:sp>
      <p:sp>
        <p:nvSpPr>
          <p:cNvPr id="32" name="Shape 6"/>
          <p:cNvSpPr/>
          <p:nvPr/>
        </p:nvSpPr>
        <p:spPr>
          <a:xfrm>
            <a:off x="256032" y="1280160"/>
            <a:ext cx="8631936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" name="Text 7"/>
          <p:cNvSpPr txBox="1"/>
          <p:nvPr/>
        </p:nvSpPr>
        <p:spPr>
          <a:xfrm>
            <a:off x="301752" y="1529781"/>
            <a:ext cx="8540496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Can we predict the grammatical word class from primitive semantic features?</a:t>
            </a:r>
          </a:p>
          <a:p>
            <a:pPr algn="ctr">
              <a:defRPr b="1" sz="1500">
                <a:solidFill>
                  <a:srgbClr val="FFFFFF"/>
                </a:solidFill>
              </a:defRPr>
            </a:pPr>
            <a:r>
              <a:t>Does high-dimensional expansion further improve classification?</a:t>
            </a:r>
          </a:p>
        </p:txBody>
      </p:sp>
      <p:sp>
        <p:nvSpPr>
          <p:cNvPr id="34" name="Shape 8"/>
          <p:cNvSpPr/>
          <p:nvPr/>
        </p:nvSpPr>
        <p:spPr>
          <a:xfrm>
            <a:off x="256032" y="2423160"/>
            <a:ext cx="2011679" cy="137160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" name="Text 9"/>
          <p:cNvSpPr txBox="1"/>
          <p:nvPr/>
        </p:nvSpPr>
        <p:spPr>
          <a:xfrm>
            <a:off x="301752" y="2584828"/>
            <a:ext cx="192024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4AA8C4"/>
                </a:solidFill>
              </a:defRPr>
            </a:lvl1pPr>
          </a:lstStyle>
          <a:p>
            <a:pPr/>
            <a:r>
              <a:t>535</a:t>
            </a:r>
          </a:p>
        </p:txBody>
      </p:sp>
      <p:sp>
        <p:nvSpPr>
          <p:cNvPr id="36" name="Text 10"/>
          <p:cNvSpPr txBox="1"/>
          <p:nvPr/>
        </p:nvSpPr>
        <p:spPr>
          <a:xfrm>
            <a:off x="301752" y="3209334"/>
            <a:ext cx="19202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Lexical entries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(nouns, verbs, adjectives)</a:t>
            </a:r>
          </a:p>
        </p:txBody>
      </p:sp>
      <p:sp>
        <p:nvSpPr>
          <p:cNvPr id="37" name="Shape 11"/>
          <p:cNvSpPr/>
          <p:nvPr/>
        </p:nvSpPr>
        <p:spPr>
          <a:xfrm>
            <a:off x="2468879" y="2423160"/>
            <a:ext cx="2011680" cy="137160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Text 12"/>
          <p:cNvSpPr txBox="1"/>
          <p:nvPr/>
        </p:nvSpPr>
        <p:spPr>
          <a:xfrm>
            <a:off x="2514600" y="2584828"/>
            <a:ext cx="192023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4AA8C4"/>
                </a:solidFill>
              </a:defRPr>
            </a:lvl1pPr>
          </a:lstStyle>
          <a:p>
            <a:pPr/>
            <a:r>
              <a:t>65</a:t>
            </a:r>
          </a:p>
        </p:txBody>
      </p:sp>
      <p:sp>
        <p:nvSpPr>
          <p:cNvPr id="39" name="Text 13"/>
          <p:cNvSpPr txBox="1"/>
          <p:nvPr/>
        </p:nvSpPr>
        <p:spPr>
          <a:xfrm>
            <a:off x="2514600" y="3209334"/>
            <a:ext cx="1920239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Semantic feature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dimensions</a:t>
            </a:r>
          </a:p>
        </p:txBody>
      </p:sp>
      <p:sp>
        <p:nvSpPr>
          <p:cNvPr id="40" name="Shape 14"/>
          <p:cNvSpPr/>
          <p:nvPr/>
        </p:nvSpPr>
        <p:spPr>
          <a:xfrm>
            <a:off x="4681728" y="2423160"/>
            <a:ext cx="2011680" cy="137160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" name="Text 15"/>
          <p:cNvSpPr txBox="1"/>
          <p:nvPr/>
        </p:nvSpPr>
        <p:spPr>
          <a:xfrm>
            <a:off x="4727448" y="2640664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4AA8C4"/>
                </a:solidFill>
              </a:defRPr>
            </a:lvl1pPr>
          </a:lstStyle>
          <a:p>
            <a:pPr/>
            <a:r>
              <a:t>434 / 62 / 39</a:t>
            </a:r>
          </a:p>
        </p:txBody>
      </p:sp>
      <p:sp>
        <p:nvSpPr>
          <p:cNvPr id="42" name="Text 16"/>
          <p:cNvSpPr txBox="1"/>
          <p:nvPr/>
        </p:nvSpPr>
        <p:spPr>
          <a:xfrm>
            <a:off x="4727448" y="3209334"/>
            <a:ext cx="19202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Thing / Action / Property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(81% / 12% / 7%)</a:t>
            </a:r>
          </a:p>
        </p:txBody>
      </p:sp>
      <p:sp>
        <p:nvSpPr>
          <p:cNvPr id="43" name="Shape 17"/>
          <p:cNvSpPr/>
          <p:nvPr/>
        </p:nvSpPr>
        <p:spPr>
          <a:xfrm>
            <a:off x="6894576" y="2423160"/>
            <a:ext cx="2011680" cy="137160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Text 18"/>
          <p:cNvSpPr txBox="1"/>
          <p:nvPr/>
        </p:nvSpPr>
        <p:spPr>
          <a:xfrm>
            <a:off x="6940295" y="2640664"/>
            <a:ext cx="19202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4AA8C4"/>
                </a:solidFill>
              </a:defRPr>
            </a:lvl1pPr>
          </a:lstStyle>
          <a:p>
            <a:pPr/>
            <a:r>
              <a:t>428 / 107</a:t>
            </a:r>
          </a:p>
        </p:txBody>
      </p:sp>
      <p:sp>
        <p:nvSpPr>
          <p:cNvPr id="45" name="Text 19"/>
          <p:cNvSpPr txBox="1"/>
          <p:nvPr/>
        </p:nvSpPr>
        <p:spPr>
          <a:xfrm>
            <a:off x="6940295" y="3209334"/>
            <a:ext cx="19202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Train / Test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(stratified 80/20)</a:t>
            </a:r>
          </a:p>
        </p:txBody>
      </p:sp>
      <p:sp>
        <p:nvSpPr>
          <p:cNvPr id="46" name="Text 20"/>
          <p:cNvSpPr txBox="1"/>
          <p:nvPr/>
        </p:nvSpPr>
        <p:spPr>
          <a:xfrm>
            <a:off x="301752" y="3987334"/>
            <a:ext cx="8540496" cy="446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1000">
                <a:solidFill>
                  <a:srgbClr val="4A607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 </a:t>
            </a:r>
            <a:r>
              <a:t>Class imbalance: a dummy majority classifier (always predict noun) achieves 81.3% accuracy — macro-F1 only 0.299. Balanced accuracy and macro-F1 are therefore the primary evaluation metrics.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"/>
          <p:cNvSpPr/>
          <p:nvPr/>
        </p:nvSpPr>
        <p:spPr>
          <a:xfrm>
            <a:off x="256031" y="201168"/>
            <a:ext cx="173736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2"/>
          <p:cNvSpPr txBox="1"/>
          <p:nvPr/>
        </p:nvSpPr>
        <p:spPr>
          <a:xfrm>
            <a:off x="256031" y="265683"/>
            <a:ext cx="173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PIPELINE</a:t>
            </a:r>
          </a:p>
        </p:txBody>
      </p:sp>
      <p:sp>
        <p:nvSpPr>
          <p:cNvPr id="51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Analysis Pipeline</a:t>
            </a:r>
          </a:p>
        </p:txBody>
      </p:sp>
      <p:sp>
        <p:nvSpPr>
          <p:cNvPr id="52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3 / 15</a:t>
            </a:r>
          </a:p>
        </p:txBody>
      </p:sp>
      <p:sp>
        <p:nvSpPr>
          <p:cNvPr id="54" name="Shape 6"/>
          <p:cNvSpPr/>
          <p:nvPr/>
        </p:nvSpPr>
        <p:spPr>
          <a:xfrm>
            <a:off x="256031" y="1371599"/>
            <a:ext cx="1572770" cy="32918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7"/>
          <p:cNvSpPr/>
          <p:nvPr/>
        </p:nvSpPr>
        <p:spPr>
          <a:xfrm>
            <a:off x="758951" y="1481327"/>
            <a:ext cx="566929" cy="566929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8"/>
          <p:cNvSpPr txBox="1"/>
          <p:nvPr/>
        </p:nvSpPr>
        <p:spPr>
          <a:xfrm>
            <a:off x="758951" y="1697658"/>
            <a:ext cx="56692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57" name="Text 9"/>
          <p:cNvSpPr txBox="1"/>
          <p:nvPr/>
        </p:nvSpPr>
        <p:spPr>
          <a:xfrm>
            <a:off x="374904" y="2300908"/>
            <a:ext cx="13350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58" name="Text 10"/>
          <p:cNvSpPr txBox="1"/>
          <p:nvPr/>
        </p:nvSpPr>
        <p:spPr>
          <a:xfrm>
            <a:off x="374904" y="3433362"/>
            <a:ext cx="133502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Cleaning · Split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Imputation · Scaling</a:t>
            </a:r>
          </a:p>
        </p:txBody>
      </p:sp>
      <p:sp>
        <p:nvSpPr>
          <p:cNvPr id="59" name="Shape 11"/>
          <p:cNvSpPr/>
          <p:nvPr/>
        </p:nvSpPr>
        <p:spPr>
          <a:xfrm>
            <a:off x="1828800" y="2487167"/>
            <a:ext cx="182881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12"/>
          <p:cNvSpPr/>
          <p:nvPr/>
        </p:nvSpPr>
        <p:spPr>
          <a:xfrm>
            <a:off x="2011679" y="1371599"/>
            <a:ext cx="1572769" cy="32918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13"/>
          <p:cNvSpPr/>
          <p:nvPr/>
        </p:nvSpPr>
        <p:spPr>
          <a:xfrm>
            <a:off x="2514600" y="1481327"/>
            <a:ext cx="566928" cy="566929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4"/>
          <p:cNvSpPr txBox="1"/>
          <p:nvPr/>
        </p:nvSpPr>
        <p:spPr>
          <a:xfrm>
            <a:off x="2514600" y="1697658"/>
            <a:ext cx="56692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II</a:t>
            </a:r>
          </a:p>
        </p:txBody>
      </p:sp>
      <p:sp>
        <p:nvSpPr>
          <p:cNvPr id="63" name="Text 15"/>
          <p:cNvSpPr txBox="1"/>
          <p:nvPr/>
        </p:nvSpPr>
        <p:spPr>
          <a:xfrm>
            <a:off x="2130552" y="2300908"/>
            <a:ext cx="13350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Unsupervised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64" name="Text 16"/>
          <p:cNvSpPr txBox="1"/>
          <p:nvPr/>
        </p:nvSpPr>
        <p:spPr>
          <a:xfrm>
            <a:off x="2130552" y="3433362"/>
            <a:ext cx="133502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PCA · K-Means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AHC · Diagnostics</a:t>
            </a:r>
          </a:p>
        </p:txBody>
      </p:sp>
      <p:sp>
        <p:nvSpPr>
          <p:cNvPr id="65" name="Shape 17"/>
          <p:cNvSpPr/>
          <p:nvPr/>
        </p:nvSpPr>
        <p:spPr>
          <a:xfrm>
            <a:off x="3584447" y="2487167"/>
            <a:ext cx="182881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18"/>
          <p:cNvSpPr/>
          <p:nvPr/>
        </p:nvSpPr>
        <p:spPr>
          <a:xfrm>
            <a:off x="3767328" y="1371599"/>
            <a:ext cx="1572769" cy="32918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19"/>
          <p:cNvSpPr/>
          <p:nvPr/>
        </p:nvSpPr>
        <p:spPr>
          <a:xfrm>
            <a:off x="4270247" y="1481327"/>
            <a:ext cx="566929" cy="566929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20"/>
          <p:cNvSpPr txBox="1"/>
          <p:nvPr/>
        </p:nvSpPr>
        <p:spPr>
          <a:xfrm>
            <a:off x="4270247" y="1697658"/>
            <a:ext cx="56692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III</a:t>
            </a:r>
          </a:p>
        </p:txBody>
      </p:sp>
      <p:sp>
        <p:nvSpPr>
          <p:cNvPr id="69" name="Text 21"/>
          <p:cNvSpPr txBox="1"/>
          <p:nvPr/>
        </p:nvSpPr>
        <p:spPr>
          <a:xfrm>
            <a:off x="3886200" y="2300908"/>
            <a:ext cx="13350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Supervised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Classification</a:t>
            </a:r>
          </a:p>
        </p:txBody>
      </p:sp>
      <p:sp>
        <p:nvSpPr>
          <p:cNvPr id="70" name="Text 22"/>
          <p:cNvSpPr txBox="1"/>
          <p:nvPr/>
        </p:nvSpPr>
        <p:spPr>
          <a:xfrm>
            <a:off x="3886200" y="3433362"/>
            <a:ext cx="133502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Baseline · LASSO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Elastic Net · Post-sel.</a:t>
            </a:r>
          </a:p>
        </p:txBody>
      </p:sp>
      <p:sp>
        <p:nvSpPr>
          <p:cNvPr id="71" name="Shape 23"/>
          <p:cNvSpPr/>
          <p:nvPr/>
        </p:nvSpPr>
        <p:spPr>
          <a:xfrm>
            <a:off x="5340096" y="2487167"/>
            <a:ext cx="182881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24"/>
          <p:cNvSpPr/>
          <p:nvPr/>
        </p:nvSpPr>
        <p:spPr>
          <a:xfrm>
            <a:off x="5522976" y="1371599"/>
            <a:ext cx="1572769" cy="329184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25"/>
          <p:cNvSpPr/>
          <p:nvPr/>
        </p:nvSpPr>
        <p:spPr>
          <a:xfrm>
            <a:off x="6025896" y="1481327"/>
            <a:ext cx="566929" cy="566929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26"/>
          <p:cNvSpPr txBox="1"/>
          <p:nvPr/>
        </p:nvSpPr>
        <p:spPr>
          <a:xfrm>
            <a:off x="6025896" y="1697658"/>
            <a:ext cx="56692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III+</a:t>
            </a:r>
          </a:p>
        </p:txBody>
      </p:sp>
      <p:sp>
        <p:nvSpPr>
          <p:cNvPr id="75" name="Text 27"/>
          <p:cNvSpPr txBox="1"/>
          <p:nvPr/>
        </p:nvSpPr>
        <p:spPr>
          <a:xfrm>
            <a:off x="5641848" y="2300908"/>
            <a:ext cx="13350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High-Dim.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Extension</a:t>
            </a:r>
          </a:p>
        </p:txBody>
      </p:sp>
      <p:sp>
        <p:nvSpPr>
          <p:cNvPr id="76" name="Text 28"/>
          <p:cNvSpPr txBox="1"/>
          <p:nvPr/>
        </p:nvSpPr>
        <p:spPr>
          <a:xfrm>
            <a:off x="5641848" y="3433362"/>
            <a:ext cx="133502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2210 features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Screening (SIS)</a:t>
            </a:r>
          </a:p>
        </p:txBody>
      </p:sp>
      <p:sp>
        <p:nvSpPr>
          <p:cNvPr id="77" name="Shape 29"/>
          <p:cNvSpPr/>
          <p:nvPr/>
        </p:nvSpPr>
        <p:spPr>
          <a:xfrm>
            <a:off x="7095743" y="2487167"/>
            <a:ext cx="182881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30"/>
          <p:cNvSpPr/>
          <p:nvPr/>
        </p:nvSpPr>
        <p:spPr>
          <a:xfrm>
            <a:off x="7278623" y="1371599"/>
            <a:ext cx="1572769" cy="32918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Shape 31"/>
          <p:cNvSpPr/>
          <p:nvPr/>
        </p:nvSpPr>
        <p:spPr>
          <a:xfrm>
            <a:off x="7781543" y="1481327"/>
            <a:ext cx="566929" cy="566929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32"/>
          <p:cNvSpPr txBox="1"/>
          <p:nvPr/>
        </p:nvSpPr>
        <p:spPr>
          <a:xfrm>
            <a:off x="7781543" y="1697658"/>
            <a:ext cx="56692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IV</a:t>
            </a:r>
          </a:p>
        </p:txBody>
      </p:sp>
      <p:sp>
        <p:nvSpPr>
          <p:cNvPr id="81" name="Text 33"/>
          <p:cNvSpPr txBox="1"/>
          <p:nvPr/>
        </p:nvSpPr>
        <p:spPr>
          <a:xfrm>
            <a:off x="7397495" y="2300908"/>
            <a:ext cx="13350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Cluster-label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82" name="Text 34"/>
          <p:cNvSpPr txBox="1"/>
          <p:nvPr/>
        </p:nvSpPr>
        <p:spPr>
          <a:xfrm>
            <a:off x="7397495" y="3433362"/>
            <a:ext cx="133502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K-Means labels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vs original classes</a:t>
            </a:r>
          </a:p>
        </p:txBody>
      </p:sp>
      <p:sp>
        <p:nvSpPr>
          <p:cNvPr id="83" name="Text 35"/>
          <p:cNvSpPr txBox="1"/>
          <p:nvPr/>
        </p:nvSpPr>
        <p:spPr>
          <a:xfrm>
            <a:off x="301752" y="4814360"/>
            <a:ext cx="854049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B8EA0"/>
                </a:solidFill>
              </a:defRPr>
            </a:lvl1pPr>
          </a:lstStyle>
          <a:p>
            <a:pPr/>
            <a:r>
              <a:t>Extra: Alternative classifiers (SVM · Random Forest · k-NN) — same selected feature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"/>
          <p:cNvSpPr/>
          <p:nvPr/>
        </p:nvSpPr>
        <p:spPr>
          <a:xfrm>
            <a:off x="256031" y="201168"/>
            <a:ext cx="210312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"/>
          <p:cNvSpPr txBox="1"/>
          <p:nvPr/>
        </p:nvSpPr>
        <p:spPr>
          <a:xfrm>
            <a:off x="256031" y="265683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 — UNSUPERVISED</a:t>
            </a:r>
          </a:p>
        </p:txBody>
      </p:sp>
      <p:sp>
        <p:nvSpPr>
          <p:cNvPr id="88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PCA: Variance Structure</a:t>
            </a:r>
          </a:p>
        </p:txBody>
      </p:sp>
      <p:sp>
        <p:nvSpPr>
          <p:cNvPr id="89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4 / 15</a:t>
            </a:r>
          </a:p>
        </p:txBody>
      </p:sp>
      <p:sp>
        <p:nvSpPr>
          <p:cNvPr id="91" name="Text 6"/>
          <p:cNvSpPr txBox="1"/>
          <p:nvPr/>
        </p:nvSpPr>
        <p:spPr>
          <a:xfrm>
            <a:off x="301752" y="1368617"/>
            <a:ext cx="4023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PC1 explains 22.7%, PC2 explains 13.4% — combined 36.1%</a:t>
            </a:r>
          </a:p>
        </p:txBody>
      </p:sp>
      <p:sp>
        <p:nvSpPr>
          <p:cNvPr id="92" name="Text 7"/>
          <p:cNvSpPr txBox="1"/>
          <p:nvPr/>
        </p:nvSpPr>
        <p:spPr>
          <a:xfrm>
            <a:off x="301752" y="1880680"/>
            <a:ext cx="4023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10 PCs needed to reach ~75% cumulative variance</a:t>
            </a:r>
          </a:p>
        </p:txBody>
      </p:sp>
      <p:sp>
        <p:nvSpPr>
          <p:cNvPr id="93" name="Text 8"/>
          <p:cNvSpPr txBox="1"/>
          <p:nvPr/>
        </p:nvSpPr>
        <p:spPr>
          <a:xfrm>
            <a:off x="301752" y="2310194"/>
            <a:ext cx="4023360" cy="427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PC1: sensorimotor gradient (VISION, COLOUR, SHAPE, TOUCH, TEXTURE) — concreteness axis</a:t>
            </a:r>
          </a:p>
        </p:txBody>
      </p:sp>
      <p:sp>
        <p:nvSpPr>
          <p:cNvPr id="94" name="Text 9"/>
          <p:cNvSpPr txBox="1"/>
          <p:nvPr/>
        </p:nvSpPr>
        <p:spPr>
          <a:xfrm>
            <a:off x="301752" y="2822259"/>
            <a:ext cx="4023360" cy="427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PC2: auditory/affective (FAST, SOUND, PAIN, ATTENTION, LOUD) — dynamic/eventive axis</a:t>
            </a:r>
          </a:p>
        </p:txBody>
      </p:sp>
      <p:sp>
        <p:nvSpPr>
          <p:cNvPr id="95" name="Text 10"/>
          <p:cNvSpPr txBox="1"/>
          <p:nvPr/>
        </p:nvSpPr>
        <p:spPr>
          <a:xfrm>
            <a:off x="301752" y="3416873"/>
            <a:ext cx="4023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Broad but imperfect class separation — boundaries not sharp</a:t>
            </a:r>
          </a:p>
        </p:txBody>
      </p:sp>
      <p:sp>
        <p:nvSpPr>
          <p:cNvPr id="96" name="Shape 11"/>
          <p:cNvSpPr/>
          <p:nvPr/>
        </p:nvSpPr>
        <p:spPr>
          <a:xfrm>
            <a:off x="4526279" y="1234439"/>
            <a:ext cx="4343401" cy="3611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280160"/>
            <a:ext cx="4251960" cy="352044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12"/>
          <p:cNvSpPr txBox="1"/>
          <p:nvPr/>
        </p:nvSpPr>
        <p:spPr>
          <a:xfrm>
            <a:off x="4572000" y="4784511"/>
            <a:ext cx="425196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6B8EA0"/>
                </a:solidFill>
              </a:defRPr>
            </a:lvl1pPr>
          </a:lstStyle>
          <a:p>
            <a:pPr/>
            <a:r>
              <a:t>PCA Biplot — PC1 vs PC2 (coloured by word class)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1"/>
          <p:cNvSpPr/>
          <p:nvPr/>
        </p:nvSpPr>
        <p:spPr>
          <a:xfrm>
            <a:off x="256031" y="201168"/>
            <a:ext cx="210312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"/>
          <p:cNvSpPr txBox="1"/>
          <p:nvPr/>
        </p:nvSpPr>
        <p:spPr>
          <a:xfrm>
            <a:off x="256031" y="265683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 — UNSUPERVISED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Clustering: K-Means and AHC</a:t>
            </a:r>
          </a:p>
        </p:txBody>
      </p:sp>
      <p:sp>
        <p:nvSpPr>
          <p:cNvPr id="104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5 / 15</a:t>
            </a:r>
          </a:p>
        </p:txBody>
      </p:sp>
      <p:sp>
        <p:nvSpPr>
          <p:cNvPr id="106" name="Shape 6"/>
          <p:cNvSpPr/>
          <p:nvPr/>
        </p:nvSpPr>
        <p:spPr>
          <a:xfrm>
            <a:off x="256032" y="1234439"/>
            <a:ext cx="8631936" cy="566929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7"/>
          <p:cNvSpPr txBox="1"/>
          <p:nvPr/>
        </p:nvSpPr>
        <p:spPr>
          <a:xfrm>
            <a:off x="365760" y="1298501"/>
            <a:ext cx="8412480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Key finding: clusters do NOT align with grammatical classes  ·  K-Means K=3: ARI=0.030, NMI=0.072  ·  AHC K=3: ARI=−0.067, NMI=0.042</a:t>
            </a:r>
          </a:p>
        </p:txBody>
      </p:sp>
      <p:sp>
        <p:nvSpPr>
          <p:cNvPr id="108" name="Text 8"/>
          <p:cNvSpPr txBox="1"/>
          <p:nvPr/>
        </p:nvSpPr>
        <p:spPr>
          <a:xfrm>
            <a:off x="301751" y="1944546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K-Means K=3 vs original labels</a:t>
            </a:r>
          </a:p>
        </p:txBody>
      </p:sp>
      <p:pic>
        <p:nvPicPr>
          <p:cNvPr id="1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2212848"/>
            <a:ext cx="4114801" cy="269748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9"/>
          <p:cNvSpPr txBox="1"/>
          <p:nvPr/>
        </p:nvSpPr>
        <p:spPr>
          <a:xfrm>
            <a:off x="4709160" y="1944546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AHC K=3 vs original labels</a:t>
            </a:r>
          </a:p>
        </p:txBody>
      </p:sp>
      <p:pic>
        <p:nvPicPr>
          <p:cNvPr id="11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81728" y="2212848"/>
            <a:ext cx="4114801" cy="269748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 10"/>
          <p:cNvSpPr txBox="1"/>
          <p:nvPr/>
        </p:nvSpPr>
        <p:spPr>
          <a:xfrm>
            <a:off x="301752" y="4981106"/>
            <a:ext cx="8540496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B8EA0"/>
                </a:solidFill>
              </a:defRPr>
            </a:lvl1pPr>
          </a:lstStyle>
          <a:p>
            <a:pPr/>
            <a:r>
              <a:t>Best silhouette at K=14 (K-Means: 0.310; AHC: 0.238) — feature space mirrors semantic domains, not grammar.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1"/>
          <p:cNvSpPr/>
          <p:nvPr/>
        </p:nvSpPr>
        <p:spPr>
          <a:xfrm>
            <a:off x="256032" y="201168"/>
            <a:ext cx="2011679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2"/>
          <p:cNvSpPr txBox="1"/>
          <p:nvPr/>
        </p:nvSpPr>
        <p:spPr>
          <a:xfrm>
            <a:off x="256032" y="265683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 — SUPERVISED</a:t>
            </a:r>
          </a:p>
        </p:txBody>
      </p:sp>
      <p:sp>
        <p:nvSpPr>
          <p:cNvPr id="117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Supervised Baseline</a:t>
            </a:r>
          </a:p>
        </p:txBody>
      </p:sp>
      <p:sp>
        <p:nvSpPr>
          <p:cNvPr id="118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6 / 15</a:t>
            </a:r>
          </a:p>
        </p:txBody>
      </p:sp>
      <p:sp>
        <p:nvSpPr>
          <p:cNvPr id="120" name="Text 6"/>
          <p:cNvSpPr txBox="1"/>
          <p:nvPr/>
        </p:nvSpPr>
        <p:spPr>
          <a:xfrm>
            <a:off x="301752" y="1229159"/>
            <a:ext cx="85404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4A6070"/>
                </a:solidFill>
              </a:defRPr>
            </a:lvl1pPr>
          </a:lstStyle>
          <a:p>
            <a:pPr/>
            <a:r>
              <a:t>Unpenalised multinomial logistic regression on all 65 standardised features</a:t>
            </a:r>
          </a:p>
        </p:txBody>
      </p:sp>
      <p:sp>
        <p:nvSpPr>
          <p:cNvPr id="121" name="Shape 7"/>
          <p:cNvSpPr/>
          <p:nvPr/>
        </p:nvSpPr>
        <p:spPr>
          <a:xfrm>
            <a:off x="256032" y="1600200"/>
            <a:ext cx="2011679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Text 8"/>
          <p:cNvSpPr txBox="1"/>
          <p:nvPr/>
        </p:nvSpPr>
        <p:spPr>
          <a:xfrm>
            <a:off x="301752" y="1748415"/>
            <a:ext cx="192024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4AA8C4"/>
                </a:solidFill>
              </a:defRPr>
            </a:lvl1pPr>
          </a:lstStyle>
          <a:p>
            <a:pPr/>
            <a:r>
              <a:t>95.3%</a:t>
            </a:r>
          </a:p>
        </p:txBody>
      </p:sp>
      <p:sp>
        <p:nvSpPr>
          <p:cNvPr id="123" name="Text 9"/>
          <p:cNvSpPr txBox="1"/>
          <p:nvPr/>
        </p:nvSpPr>
        <p:spPr>
          <a:xfrm>
            <a:off x="301752" y="23271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8E8F0"/>
                </a:solidFill>
              </a:defRPr>
            </a:lvl1pPr>
          </a:lstStyle>
          <a:p>
            <a:pPr/>
            <a:r>
              <a:t>Test Accuracy</a:t>
            </a:r>
          </a:p>
        </p:txBody>
      </p:sp>
      <p:sp>
        <p:nvSpPr>
          <p:cNvPr id="124" name="Text 10"/>
          <p:cNvSpPr txBox="1"/>
          <p:nvPr/>
        </p:nvSpPr>
        <p:spPr>
          <a:xfrm>
            <a:off x="301752" y="2612811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8EA0"/>
                </a:solidFill>
              </a:defRPr>
            </a:lvl1pPr>
          </a:lstStyle>
          <a:p>
            <a:pPr/>
            <a:r>
              <a:t>Train: 100% (perfect sep.)</a:t>
            </a:r>
          </a:p>
        </p:txBody>
      </p:sp>
      <p:sp>
        <p:nvSpPr>
          <p:cNvPr id="125" name="Shape 11"/>
          <p:cNvSpPr/>
          <p:nvPr/>
        </p:nvSpPr>
        <p:spPr>
          <a:xfrm>
            <a:off x="2468879" y="160020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Text 12"/>
          <p:cNvSpPr txBox="1"/>
          <p:nvPr/>
        </p:nvSpPr>
        <p:spPr>
          <a:xfrm>
            <a:off x="2514600" y="1748415"/>
            <a:ext cx="1920239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4AA8C4"/>
                </a:solidFill>
              </a:defRPr>
            </a:lvl1pPr>
          </a:lstStyle>
          <a:p>
            <a:pPr/>
            <a:r>
              <a:t>91.9%</a:t>
            </a:r>
          </a:p>
        </p:txBody>
      </p:sp>
      <p:sp>
        <p:nvSpPr>
          <p:cNvPr id="127" name="Text 13"/>
          <p:cNvSpPr txBox="1"/>
          <p:nvPr/>
        </p:nvSpPr>
        <p:spPr>
          <a:xfrm>
            <a:off x="2514600" y="2327192"/>
            <a:ext cx="192023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8E8F0"/>
                </a:solidFill>
              </a:defRPr>
            </a:lvl1pPr>
          </a:lstStyle>
          <a:p>
            <a:pPr/>
            <a:r>
              <a:t>Balanced Accuracy</a:t>
            </a:r>
          </a:p>
        </p:txBody>
      </p:sp>
      <p:sp>
        <p:nvSpPr>
          <p:cNvPr id="128" name="Text 14"/>
          <p:cNvSpPr txBox="1"/>
          <p:nvPr/>
        </p:nvSpPr>
        <p:spPr>
          <a:xfrm>
            <a:off x="2514600" y="2612811"/>
            <a:ext cx="192023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8EA0"/>
                </a:solidFill>
              </a:defRPr>
            </a:lvl1pPr>
          </a:lstStyle>
          <a:p>
            <a:pPr/>
            <a:r>
              <a:t>All 3 classes recovered</a:t>
            </a:r>
          </a:p>
        </p:txBody>
      </p:sp>
      <p:sp>
        <p:nvSpPr>
          <p:cNvPr id="129" name="Shape 15"/>
          <p:cNvSpPr/>
          <p:nvPr/>
        </p:nvSpPr>
        <p:spPr>
          <a:xfrm>
            <a:off x="4681728" y="1600200"/>
            <a:ext cx="201168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Text 16"/>
          <p:cNvSpPr txBox="1"/>
          <p:nvPr/>
        </p:nvSpPr>
        <p:spPr>
          <a:xfrm>
            <a:off x="4727448" y="1748415"/>
            <a:ext cx="192024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4AA8C4"/>
                </a:solidFill>
              </a:defRPr>
            </a:lvl1pPr>
          </a:lstStyle>
          <a:p>
            <a:pPr/>
            <a:r>
              <a:t>0.890</a:t>
            </a:r>
          </a:p>
        </p:txBody>
      </p:sp>
      <p:sp>
        <p:nvSpPr>
          <p:cNvPr id="131" name="Text 17"/>
          <p:cNvSpPr txBox="1"/>
          <p:nvPr/>
        </p:nvSpPr>
        <p:spPr>
          <a:xfrm>
            <a:off x="4727448" y="23271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8E8F0"/>
                </a:solidFill>
              </a:defRPr>
            </a:lvl1pPr>
          </a:lstStyle>
          <a:p>
            <a:pPr/>
            <a:r>
              <a:t>Test Macro F1</a:t>
            </a:r>
          </a:p>
        </p:txBody>
      </p:sp>
      <p:sp>
        <p:nvSpPr>
          <p:cNvPr id="132" name="Text 18"/>
          <p:cNvSpPr txBox="1"/>
          <p:nvPr/>
        </p:nvSpPr>
        <p:spPr>
          <a:xfrm>
            <a:off x="4727448" y="2612811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8EA0"/>
                </a:solidFill>
              </a:defRPr>
            </a:lvl1pPr>
          </a:lstStyle>
          <a:p>
            <a:pPr/>
            <a:r>
              <a:t>CV mean: 0.859 ± 0.045</a:t>
            </a:r>
          </a:p>
        </p:txBody>
      </p:sp>
      <p:sp>
        <p:nvSpPr>
          <p:cNvPr id="133" name="Shape 19"/>
          <p:cNvSpPr/>
          <p:nvPr/>
        </p:nvSpPr>
        <p:spPr>
          <a:xfrm>
            <a:off x="6894576" y="1600200"/>
            <a:ext cx="2011680" cy="1417320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Text 20"/>
          <p:cNvSpPr txBox="1"/>
          <p:nvPr/>
        </p:nvSpPr>
        <p:spPr>
          <a:xfrm>
            <a:off x="6940295" y="1800704"/>
            <a:ext cx="192024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6B8EA0"/>
                </a:solidFill>
              </a:defRPr>
            </a:lvl1pPr>
          </a:lstStyle>
          <a:p>
            <a:pPr/>
            <a:r>
              <a:t>81.3%</a:t>
            </a:r>
          </a:p>
        </p:txBody>
      </p:sp>
      <p:sp>
        <p:nvSpPr>
          <p:cNvPr id="135" name="Text 21"/>
          <p:cNvSpPr txBox="1"/>
          <p:nvPr/>
        </p:nvSpPr>
        <p:spPr>
          <a:xfrm>
            <a:off x="6940295" y="23271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4A6070"/>
                </a:solidFill>
              </a:defRPr>
            </a:lvl1pPr>
          </a:lstStyle>
          <a:p>
            <a:pPr/>
            <a:r>
              <a:t>Dummy Majority</a:t>
            </a:r>
          </a:p>
        </p:txBody>
      </p:sp>
      <p:sp>
        <p:nvSpPr>
          <p:cNvPr id="136" name="Text 22"/>
          <p:cNvSpPr txBox="1"/>
          <p:nvPr/>
        </p:nvSpPr>
        <p:spPr>
          <a:xfrm>
            <a:off x="6940295" y="2612811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8EA0"/>
                </a:solidFill>
              </a:defRPr>
            </a:lvl1pPr>
          </a:lstStyle>
          <a:p>
            <a:pPr/>
            <a:r>
              <a:t>Macro F1 = 0.299 only</a:t>
            </a:r>
          </a:p>
        </p:txBody>
      </p:sp>
      <p:sp>
        <p:nvSpPr>
          <p:cNvPr id="137" name="Text 23"/>
          <p:cNvSpPr txBox="1"/>
          <p:nvPr/>
        </p:nvSpPr>
        <p:spPr>
          <a:xfrm>
            <a:off x="301752" y="3242993"/>
            <a:ext cx="40233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Test Confusion Matrix</a:t>
            </a:r>
          </a:p>
        </p:txBody>
      </p:sp>
      <p:pic>
        <p:nvPicPr>
          <p:cNvPr id="1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31" y="3520440"/>
            <a:ext cx="3931922" cy="1417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 24"/>
          <p:cNvSpPr txBox="1"/>
          <p:nvPr/>
        </p:nvSpPr>
        <p:spPr>
          <a:xfrm>
            <a:off x="4480560" y="3242993"/>
            <a:ext cx="436168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Per-class breakdown</a:t>
            </a:r>
          </a:p>
        </p:txBody>
      </p:sp>
      <p:sp>
        <p:nvSpPr>
          <p:cNvPr id="140" name="Shape 25"/>
          <p:cNvSpPr/>
          <p:nvPr/>
        </p:nvSpPr>
        <p:spPr>
          <a:xfrm>
            <a:off x="4434840" y="3566159"/>
            <a:ext cx="4453129" cy="420625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26"/>
          <p:cNvSpPr txBox="1"/>
          <p:nvPr/>
        </p:nvSpPr>
        <p:spPr>
          <a:xfrm>
            <a:off x="4572000" y="365764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D1B3E"/>
                </a:solidFill>
              </a:defRPr>
            </a:lvl1pPr>
          </a:lstStyle>
          <a:p>
            <a:pPr/>
            <a:r>
              <a:t>Thing (noun)</a:t>
            </a:r>
          </a:p>
        </p:txBody>
      </p:sp>
      <p:sp>
        <p:nvSpPr>
          <p:cNvPr id="142" name="Text 27"/>
          <p:cNvSpPr txBox="1"/>
          <p:nvPr/>
        </p:nvSpPr>
        <p:spPr>
          <a:xfrm>
            <a:off x="6263640" y="3657644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C6E8C"/>
                </a:solidFill>
              </a:defRPr>
            </a:lvl1pPr>
          </a:lstStyle>
          <a:p>
            <a:pPr/>
            <a:r>
              <a:t>Excellent</a:t>
            </a:r>
          </a:p>
        </p:txBody>
      </p:sp>
      <p:sp>
        <p:nvSpPr>
          <p:cNvPr id="143" name="Text 28"/>
          <p:cNvSpPr txBox="1"/>
          <p:nvPr/>
        </p:nvSpPr>
        <p:spPr>
          <a:xfrm>
            <a:off x="7132319" y="3668943"/>
            <a:ext cx="16459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84/87 correct — dominant class</a:t>
            </a:r>
          </a:p>
        </p:txBody>
      </p:sp>
      <p:sp>
        <p:nvSpPr>
          <p:cNvPr id="144" name="Shape 29"/>
          <p:cNvSpPr/>
          <p:nvPr/>
        </p:nvSpPr>
        <p:spPr>
          <a:xfrm>
            <a:off x="4434840" y="4023359"/>
            <a:ext cx="4453129" cy="420625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30"/>
          <p:cNvSpPr txBox="1"/>
          <p:nvPr/>
        </p:nvSpPr>
        <p:spPr>
          <a:xfrm>
            <a:off x="4572000" y="411484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D1B3E"/>
                </a:solidFill>
              </a:defRPr>
            </a:lvl1pPr>
          </a:lstStyle>
          <a:p>
            <a:pPr/>
            <a:r>
              <a:t>Action (verb)</a:t>
            </a:r>
          </a:p>
        </p:txBody>
      </p:sp>
      <p:sp>
        <p:nvSpPr>
          <p:cNvPr id="146" name="Text 31"/>
          <p:cNvSpPr txBox="1"/>
          <p:nvPr/>
        </p:nvSpPr>
        <p:spPr>
          <a:xfrm>
            <a:off x="6263640" y="4114844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C6E8C"/>
                </a:solidFill>
              </a:defRPr>
            </a:lvl1pPr>
          </a:lstStyle>
          <a:p>
            <a:pPr/>
            <a:r>
              <a:t>Good</a:t>
            </a:r>
          </a:p>
        </p:txBody>
      </p:sp>
      <p:sp>
        <p:nvSpPr>
          <p:cNvPr id="147" name="Text 32"/>
          <p:cNvSpPr txBox="1"/>
          <p:nvPr/>
        </p:nvSpPr>
        <p:spPr>
          <a:xfrm>
            <a:off x="7132319" y="4056293"/>
            <a:ext cx="16459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11/12 correct — motion/social features key</a:t>
            </a:r>
          </a:p>
        </p:txBody>
      </p:sp>
      <p:sp>
        <p:nvSpPr>
          <p:cNvPr id="148" name="Shape 33"/>
          <p:cNvSpPr/>
          <p:nvPr/>
        </p:nvSpPr>
        <p:spPr>
          <a:xfrm>
            <a:off x="4434840" y="4480559"/>
            <a:ext cx="4453129" cy="420625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34"/>
          <p:cNvSpPr txBox="1"/>
          <p:nvPr/>
        </p:nvSpPr>
        <p:spPr>
          <a:xfrm>
            <a:off x="4572000" y="4572044"/>
            <a:ext cx="1554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D1B3E"/>
                </a:solidFill>
              </a:defRPr>
            </a:lvl1pPr>
          </a:lstStyle>
          <a:p>
            <a:pPr/>
            <a:r>
              <a:t>Property (adj.)</a:t>
            </a:r>
          </a:p>
        </p:txBody>
      </p:sp>
      <p:sp>
        <p:nvSpPr>
          <p:cNvPr id="150" name="Text 35"/>
          <p:cNvSpPr txBox="1"/>
          <p:nvPr/>
        </p:nvSpPr>
        <p:spPr>
          <a:xfrm>
            <a:off x="6263640" y="4572044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C6E8C"/>
                </a:solidFill>
              </a:defRPr>
            </a:lvl1pPr>
          </a:lstStyle>
          <a:p>
            <a:pPr/>
            <a:r>
              <a:t>Good</a:t>
            </a:r>
          </a:p>
        </p:txBody>
      </p:sp>
      <p:sp>
        <p:nvSpPr>
          <p:cNvPr id="151" name="Text 36"/>
          <p:cNvSpPr txBox="1"/>
          <p:nvPr/>
        </p:nvSpPr>
        <p:spPr>
          <a:xfrm>
            <a:off x="7132319" y="4583343"/>
            <a:ext cx="16459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7/8 correct — fewest obs. (7%)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1"/>
          <p:cNvSpPr/>
          <p:nvPr/>
        </p:nvSpPr>
        <p:spPr>
          <a:xfrm>
            <a:off x="256032" y="201168"/>
            <a:ext cx="2011679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2"/>
          <p:cNvSpPr txBox="1"/>
          <p:nvPr/>
        </p:nvSpPr>
        <p:spPr>
          <a:xfrm>
            <a:off x="256032" y="265683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 — SUPERVISED</a:t>
            </a:r>
          </a:p>
        </p:txBody>
      </p:sp>
      <p:sp>
        <p:nvSpPr>
          <p:cNvPr id="156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Multicollinearity in the Semantic Space</a:t>
            </a:r>
          </a:p>
        </p:txBody>
      </p:sp>
      <p:sp>
        <p:nvSpPr>
          <p:cNvPr id="157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7 / 15</a:t>
            </a:r>
          </a:p>
        </p:txBody>
      </p:sp>
      <p:sp>
        <p:nvSpPr>
          <p:cNvPr id="159" name="Shape 6"/>
          <p:cNvSpPr/>
          <p:nvPr/>
        </p:nvSpPr>
        <p:spPr>
          <a:xfrm>
            <a:off x="256032" y="1261872"/>
            <a:ext cx="2011679" cy="109728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7"/>
          <p:cNvSpPr txBox="1"/>
          <p:nvPr/>
        </p:nvSpPr>
        <p:spPr>
          <a:xfrm>
            <a:off x="301752" y="1372224"/>
            <a:ext cx="192024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4AA8C4"/>
                </a:solidFill>
              </a:defRPr>
            </a:lvl1pPr>
          </a:lstStyle>
          <a:p>
            <a:pPr/>
            <a:r>
              <a:t>199</a:t>
            </a:r>
          </a:p>
        </p:txBody>
      </p:sp>
      <p:sp>
        <p:nvSpPr>
          <p:cNvPr id="161" name="Text 8"/>
          <p:cNvSpPr txBox="1"/>
          <p:nvPr/>
        </p:nvSpPr>
        <p:spPr>
          <a:xfrm>
            <a:off x="301752" y="196143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Pairs |r| ≥ 0.50</a:t>
            </a:r>
          </a:p>
        </p:txBody>
      </p:sp>
      <p:sp>
        <p:nvSpPr>
          <p:cNvPr id="162" name="Shape 9"/>
          <p:cNvSpPr/>
          <p:nvPr/>
        </p:nvSpPr>
        <p:spPr>
          <a:xfrm>
            <a:off x="2468879" y="1261872"/>
            <a:ext cx="2011680" cy="109728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0"/>
          <p:cNvSpPr txBox="1"/>
          <p:nvPr/>
        </p:nvSpPr>
        <p:spPr>
          <a:xfrm>
            <a:off x="2514600" y="1372224"/>
            <a:ext cx="1920239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4AA8C4"/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164" name="Text 11"/>
          <p:cNvSpPr txBox="1"/>
          <p:nvPr/>
        </p:nvSpPr>
        <p:spPr>
          <a:xfrm>
            <a:off x="2514600" y="1961432"/>
            <a:ext cx="192023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Pairs |r| ≥ 0.80</a:t>
            </a:r>
          </a:p>
        </p:txBody>
      </p:sp>
      <p:sp>
        <p:nvSpPr>
          <p:cNvPr id="165" name="Shape 12"/>
          <p:cNvSpPr/>
          <p:nvPr/>
        </p:nvSpPr>
        <p:spPr>
          <a:xfrm>
            <a:off x="4681728" y="1261872"/>
            <a:ext cx="2011680" cy="109728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3"/>
          <p:cNvSpPr txBox="1"/>
          <p:nvPr/>
        </p:nvSpPr>
        <p:spPr>
          <a:xfrm>
            <a:off x="4727448" y="1372224"/>
            <a:ext cx="192024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4AA8C4"/>
                </a:solidFill>
              </a:defRPr>
            </a:lvl1pPr>
          </a:lstStyle>
          <a:p>
            <a:pPr/>
            <a:r>
              <a:t>0.937</a:t>
            </a:r>
          </a:p>
        </p:txBody>
      </p:sp>
      <p:sp>
        <p:nvSpPr>
          <p:cNvPr id="167" name="Text 14"/>
          <p:cNvSpPr txBox="1"/>
          <p:nvPr/>
        </p:nvSpPr>
        <p:spPr>
          <a:xfrm>
            <a:off x="4727448" y="1878882"/>
            <a:ext cx="19202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Max |r|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(pleasant–happy)</a:t>
            </a:r>
          </a:p>
        </p:txBody>
      </p:sp>
      <p:sp>
        <p:nvSpPr>
          <p:cNvPr id="168" name="Shape 15"/>
          <p:cNvSpPr/>
          <p:nvPr/>
        </p:nvSpPr>
        <p:spPr>
          <a:xfrm>
            <a:off x="6894576" y="1261872"/>
            <a:ext cx="2011680" cy="109728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6"/>
          <p:cNvSpPr txBox="1"/>
          <p:nvPr/>
        </p:nvSpPr>
        <p:spPr>
          <a:xfrm>
            <a:off x="6940295" y="1372224"/>
            <a:ext cx="192024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4AA8C4"/>
                </a:solidFill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170" name="Text 17"/>
          <p:cNvSpPr txBox="1"/>
          <p:nvPr/>
        </p:nvSpPr>
        <p:spPr>
          <a:xfrm>
            <a:off x="6940295" y="1878882"/>
            <a:ext cx="19202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C8E8F0"/>
                </a:solidFill>
              </a:defRPr>
            </a:pPr>
            <a:r>
              <a:t>Features VIF ≥ 5</a:t>
            </a:r>
          </a:p>
          <a:p>
            <a:pPr algn="ctr">
              <a:defRPr sz="1000">
                <a:solidFill>
                  <a:srgbClr val="C8E8F0"/>
                </a:solidFill>
              </a:defRPr>
            </a:pPr>
            <a:r>
              <a:t>(max VIF: 23)</a:t>
            </a:r>
          </a:p>
        </p:txBody>
      </p:sp>
      <p:sp>
        <p:nvSpPr>
          <p:cNvPr id="171" name="Text 18"/>
          <p:cNvSpPr txBox="1"/>
          <p:nvPr/>
        </p:nvSpPr>
        <p:spPr>
          <a:xfrm>
            <a:off x="301752" y="2555792"/>
            <a:ext cx="4023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0D1B3E"/>
                </a:solidFill>
              </a:defRPr>
            </a:lvl1pPr>
          </a:lstStyle>
          <a:p>
            <a:pPr/>
            <a:r>
              <a:t>Absolute Correlation Heatmap</a:t>
            </a:r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31" y="2816351"/>
            <a:ext cx="4023361" cy="2103122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 19"/>
          <p:cNvSpPr txBox="1"/>
          <p:nvPr/>
        </p:nvSpPr>
        <p:spPr>
          <a:xfrm>
            <a:off x="4617720" y="25557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0D1B3E"/>
                </a:solidFill>
              </a:defRPr>
            </a:lvl1pPr>
          </a:lstStyle>
          <a:p>
            <a:pPr/>
            <a:r>
              <a:t>Top Correlated Feature Pairs</a:t>
            </a:r>
          </a:p>
        </p:txBody>
      </p:sp>
      <p:pic>
        <p:nvPicPr>
          <p:cNvPr id="17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2816351"/>
            <a:ext cx="4297680" cy="2103122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20"/>
          <p:cNvSpPr txBox="1"/>
          <p:nvPr/>
        </p:nvSpPr>
        <p:spPr>
          <a:xfrm>
            <a:off x="301752" y="4962818"/>
            <a:ext cx="8540496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B8EA0"/>
                </a:solidFill>
              </a:defRPr>
            </a:lvl1pPr>
          </a:lstStyle>
          <a:p>
            <a:pPr/>
            <a:r>
              <a:t>Redundancy is structural, not accidental — it reflects the co-activation of semantic domains in word meanings. Motivates LASSO and Elastic Net.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Shape 1"/>
          <p:cNvSpPr/>
          <p:nvPr/>
        </p:nvSpPr>
        <p:spPr>
          <a:xfrm>
            <a:off x="256032" y="201168"/>
            <a:ext cx="2011679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2"/>
          <p:cNvSpPr txBox="1"/>
          <p:nvPr/>
        </p:nvSpPr>
        <p:spPr>
          <a:xfrm>
            <a:off x="256032" y="265683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 — SUPERVISED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Regularised Models: LASSO &amp; Elastic Net</a:t>
            </a:r>
          </a:p>
        </p:txBody>
      </p:sp>
      <p:sp>
        <p:nvSpPr>
          <p:cNvPr id="181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8 / 15</a:t>
            </a:r>
          </a:p>
        </p:txBody>
      </p:sp>
      <p:sp>
        <p:nvSpPr>
          <p:cNvPr id="183" name="Shape 6"/>
          <p:cNvSpPr/>
          <p:nvPr/>
        </p:nvSpPr>
        <p:spPr>
          <a:xfrm>
            <a:off x="256031" y="1261872"/>
            <a:ext cx="2331722" cy="320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Shape 7"/>
          <p:cNvSpPr/>
          <p:nvPr/>
        </p:nvSpPr>
        <p:spPr>
          <a:xfrm>
            <a:off x="256031" y="1261872"/>
            <a:ext cx="2331722" cy="36576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8"/>
          <p:cNvSpPr txBox="1"/>
          <p:nvPr/>
        </p:nvSpPr>
        <p:spPr>
          <a:xfrm>
            <a:off x="393192" y="1320599"/>
            <a:ext cx="20574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LASSO (L1)</a:t>
            </a:r>
          </a:p>
        </p:txBody>
      </p:sp>
      <p:sp>
        <p:nvSpPr>
          <p:cNvPr id="186" name="Text 9"/>
          <p:cNvSpPr txBox="1"/>
          <p:nvPr/>
        </p:nvSpPr>
        <p:spPr>
          <a:xfrm>
            <a:off x="393192" y="1787442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Best C = 100 (weak regularisation needed)</a:t>
            </a:r>
          </a:p>
        </p:txBody>
      </p:sp>
      <p:sp>
        <p:nvSpPr>
          <p:cNvPr id="187" name="Text 10"/>
          <p:cNvSpPr txBox="1"/>
          <p:nvPr/>
        </p:nvSpPr>
        <p:spPr>
          <a:xfrm>
            <a:off x="393192" y="2363514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172 / 195 non-zero coefs (zero share 11.8%)</a:t>
            </a:r>
          </a:p>
        </p:txBody>
      </p:sp>
      <p:sp>
        <p:nvSpPr>
          <p:cNvPr id="188" name="Text 11"/>
          <p:cNvSpPr txBox="1"/>
          <p:nvPr/>
        </p:nvSpPr>
        <p:spPr>
          <a:xfrm>
            <a:off x="393192" y="2939586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All 65 features active — no full sparsity at p=65</a:t>
            </a:r>
          </a:p>
        </p:txBody>
      </p:sp>
      <p:sp>
        <p:nvSpPr>
          <p:cNvPr id="189" name="Text 12"/>
          <p:cNvSpPr txBox="1"/>
          <p:nvPr/>
        </p:nvSpPr>
        <p:spPr>
          <a:xfrm>
            <a:off x="393192" y="3515658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Test Macro F1 = 0.890 · Balanced Acc. = 0.919</a:t>
            </a:r>
          </a:p>
        </p:txBody>
      </p:sp>
      <p:sp>
        <p:nvSpPr>
          <p:cNvPr id="190" name="Shape 13"/>
          <p:cNvSpPr/>
          <p:nvPr/>
        </p:nvSpPr>
        <p:spPr>
          <a:xfrm>
            <a:off x="2770632" y="1261872"/>
            <a:ext cx="2331721" cy="320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Shape 14"/>
          <p:cNvSpPr/>
          <p:nvPr/>
        </p:nvSpPr>
        <p:spPr>
          <a:xfrm>
            <a:off x="2770632" y="1261872"/>
            <a:ext cx="2331721" cy="365761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5"/>
          <p:cNvSpPr txBox="1"/>
          <p:nvPr/>
        </p:nvSpPr>
        <p:spPr>
          <a:xfrm>
            <a:off x="2907792" y="1320599"/>
            <a:ext cx="20574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Elastic Net (L1+L2)</a:t>
            </a:r>
          </a:p>
        </p:txBody>
      </p:sp>
      <p:sp>
        <p:nvSpPr>
          <p:cNvPr id="193" name="Text 16"/>
          <p:cNvSpPr txBox="1"/>
          <p:nvPr/>
        </p:nvSpPr>
        <p:spPr>
          <a:xfrm>
            <a:off x="2907792" y="1869992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Best C = 100, L1 ratio = 0.3</a:t>
            </a:r>
          </a:p>
        </p:txBody>
      </p:sp>
      <p:sp>
        <p:nvSpPr>
          <p:cNvPr id="194" name="Text 17"/>
          <p:cNvSpPr txBox="1"/>
          <p:nvPr/>
        </p:nvSpPr>
        <p:spPr>
          <a:xfrm>
            <a:off x="2907792" y="2363514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192 / 195 non-zero coefs (zero share 1.5%)</a:t>
            </a:r>
          </a:p>
        </p:txBody>
      </p:sp>
      <p:sp>
        <p:nvSpPr>
          <p:cNvPr id="195" name="Text 18"/>
          <p:cNvSpPr txBox="1"/>
          <p:nvPr/>
        </p:nvSpPr>
        <p:spPr>
          <a:xfrm>
            <a:off x="2907792" y="2939586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L2 dominates — nearly all features retained</a:t>
            </a:r>
          </a:p>
        </p:txBody>
      </p:sp>
      <p:sp>
        <p:nvSpPr>
          <p:cNvPr id="196" name="Text 19"/>
          <p:cNvSpPr txBox="1"/>
          <p:nvPr/>
        </p:nvSpPr>
        <p:spPr>
          <a:xfrm>
            <a:off x="2907792" y="3515658"/>
            <a:ext cx="20574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Test Macro F1 = 0.890 · same as LASSO</a:t>
            </a:r>
          </a:p>
        </p:txBody>
      </p:sp>
      <p:sp>
        <p:nvSpPr>
          <p:cNvPr id="197" name="Text 20"/>
          <p:cNvSpPr txBox="1"/>
          <p:nvPr/>
        </p:nvSpPr>
        <p:spPr>
          <a:xfrm>
            <a:off x="5257800" y="1277034"/>
            <a:ext cx="35661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Top LASSO coefficients</a:t>
            </a:r>
          </a:p>
        </p:txBody>
      </p:sp>
      <p:pic>
        <p:nvPicPr>
          <p:cNvPr id="1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12079" y="1536191"/>
            <a:ext cx="3657601" cy="2926081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21"/>
          <p:cNvSpPr txBox="1"/>
          <p:nvPr/>
        </p:nvSpPr>
        <p:spPr>
          <a:xfrm>
            <a:off x="301752" y="4642779"/>
            <a:ext cx="854049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B8EA0"/>
                </a:solidFill>
              </a:defRPr>
            </a:lvl1pPr>
          </a:lstStyle>
          <a:p>
            <a:pPr/>
            <a:r>
              <a:t>Note: paper body Table 7 reports higher values (LASSO 0.968/0.915, EN 0.971/0.920) — paper appendix Table 24 and actual code output both confirm 0.953/0.890.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1"/>
          <p:cNvSpPr/>
          <p:nvPr/>
        </p:nvSpPr>
        <p:spPr>
          <a:xfrm>
            <a:off x="256032" y="201168"/>
            <a:ext cx="2011679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2"/>
          <p:cNvSpPr txBox="1"/>
          <p:nvPr/>
        </p:nvSpPr>
        <p:spPr>
          <a:xfrm>
            <a:off x="256032" y="265683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 — SUPERVISED</a:t>
            </a:r>
          </a:p>
        </p:txBody>
      </p:sp>
      <p:sp>
        <p:nvSpPr>
          <p:cNvPr id="204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Post-Selection Model &amp; Final Comparison</a:t>
            </a:r>
          </a:p>
        </p:txBody>
      </p:sp>
      <p:sp>
        <p:nvSpPr>
          <p:cNvPr id="205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9 / 15</a:t>
            </a:r>
          </a:p>
        </p:txBody>
      </p:sp>
      <p:sp>
        <p:nvSpPr>
          <p:cNvPr id="207" name="Text 6"/>
          <p:cNvSpPr txBox="1"/>
          <p:nvPr/>
        </p:nvSpPr>
        <p:spPr>
          <a:xfrm>
            <a:off x="301752" y="1286178"/>
            <a:ext cx="4023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Sparsity overview</a:t>
            </a:r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31" y="1554480"/>
            <a:ext cx="4114801" cy="201168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7"/>
          <p:cNvSpPr txBox="1"/>
          <p:nvPr/>
        </p:nvSpPr>
        <p:spPr>
          <a:xfrm>
            <a:off x="4617720" y="1286178"/>
            <a:ext cx="422452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Model comparison (test set)</a:t>
            </a:r>
          </a:p>
        </p:txBody>
      </p:sp>
      <p:pic>
        <p:nvPicPr>
          <p:cNvPr id="21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1554480"/>
            <a:ext cx="4315968" cy="2011680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Shape 8"/>
          <p:cNvSpPr/>
          <p:nvPr/>
        </p:nvSpPr>
        <p:spPr>
          <a:xfrm>
            <a:off x="256032" y="3749040"/>
            <a:ext cx="8631936" cy="256033"/>
          </a:xfrm>
          <a:prstGeom prst="rect">
            <a:avLst/>
          </a:prstGeom>
          <a:solidFill>
            <a:srgbClr val="0D1B3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9"/>
          <p:cNvSpPr txBox="1"/>
          <p:nvPr/>
        </p:nvSpPr>
        <p:spPr>
          <a:xfrm>
            <a:off x="301752" y="3762801"/>
            <a:ext cx="21945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213" name="Text 10"/>
          <p:cNvSpPr txBox="1"/>
          <p:nvPr/>
        </p:nvSpPr>
        <p:spPr>
          <a:xfrm>
            <a:off x="2679192" y="376420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Acc.</a:t>
            </a:r>
          </a:p>
        </p:txBody>
      </p:sp>
      <p:sp>
        <p:nvSpPr>
          <p:cNvPr id="214" name="Text 11"/>
          <p:cNvSpPr txBox="1"/>
          <p:nvPr/>
        </p:nvSpPr>
        <p:spPr>
          <a:xfrm>
            <a:off x="4782311" y="376420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Bal.Acc.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6611111" y="376420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Macro F1</a:t>
            </a:r>
          </a:p>
        </p:txBody>
      </p:sp>
      <p:sp>
        <p:nvSpPr>
          <p:cNvPr id="216" name="Shape 13"/>
          <p:cNvSpPr/>
          <p:nvPr/>
        </p:nvSpPr>
        <p:spPr>
          <a:xfrm>
            <a:off x="256032" y="4023359"/>
            <a:ext cx="8631936" cy="256033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14"/>
          <p:cNvSpPr txBox="1"/>
          <p:nvPr/>
        </p:nvSpPr>
        <p:spPr>
          <a:xfrm>
            <a:off x="301752" y="4037120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Baseline multinomial</a:t>
            </a:r>
          </a:p>
        </p:txBody>
      </p:sp>
      <p:sp>
        <p:nvSpPr>
          <p:cNvPr id="218" name="Text 15"/>
          <p:cNvSpPr txBox="1"/>
          <p:nvPr/>
        </p:nvSpPr>
        <p:spPr>
          <a:xfrm>
            <a:off x="2679192" y="4038522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0.953</a:t>
            </a:r>
          </a:p>
        </p:txBody>
      </p:sp>
      <p:sp>
        <p:nvSpPr>
          <p:cNvPr id="219" name="Text 16"/>
          <p:cNvSpPr txBox="1"/>
          <p:nvPr/>
        </p:nvSpPr>
        <p:spPr>
          <a:xfrm>
            <a:off x="4782311" y="4038522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0.919</a:t>
            </a:r>
          </a:p>
        </p:txBody>
      </p:sp>
      <p:sp>
        <p:nvSpPr>
          <p:cNvPr id="220" name="Text 17"/>
          <p:cNvSpPr txBox="1"/>
          <p:nvPr/>
        </p:nvSpPr>
        <p:spPr>
          <a:xfrm>
            <a:off x="6611111" y="4038522"/>
            <a:ext cx="19202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0.890</a:t>
            </a:r>
          </a:p>
        </p:txBody>
      </p:sp>
      <p:sp>
        <p:nvSpPr>
          <p:cNvPr id="221" name="Shape 18"/>
          <p:cNvSpPr/>
          <p:nvPr/>
        </p:nvSpPr>
        <p:spPr>
          <a:xfrm>
            <a:off x="256032" y="4297679"/>
            <a:ext cx="8631936" cy="256033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9"/>
          <p:cNvSpPr txBox="1"/>
          <p:nvPr/>
        </p:nvSpPr>
        <p:spPr>
          <a:xfrm>
            <a:off x="301752" y="4311440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LASSO</a:t>
            </a:r>
          </a:p>
        </p:txBody>
      </p:sp>
      <p:sp>
        <p:nvSpPr>
          <p:cNvPr id="223" name="Text 20"/>
          <p:cNvSpPr txBox="1"/>
          <p:nvPr/>
        </p:nvSpPr>
        <p:spPr>
          <a:xfrm>
            <a:off x="2679192" y="431284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0.953</a:t>
            </a:r>
          </a:p>
        </p:txBody>
      </p:sp>
      <p:sp>
        <p:nvSpPr>
          <p:cNvPr id="224" name="Text 21"/>
          <p:cNvSpPr txBox="1"/>
          <p:nvPr/>
        </p:nvSpPr>
        <p:spPr>
          <a:xfrm>
            <a:off x="4782311" y="431284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0.919</a:t>
            </a:r>
          </a:p>
        </p:txBody>
      </p:sp>
      <p:sp>
        <p:nvSpPr>
          <p:cNvPr id="225" name="Text 22"/>
          <p:cNvSpPr txBox="1"/>
          <p:nvPr/>
        </p:nvSpPr>
        <p:spPr>
          <a:xfrm>
            <a:off x="6611111" y="431284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0.890</a:t>
            </a:r>
          </a:p>
        </p:txBody>
      </p:sp>
      <p:sp>
        <p:nvSpPr>
          <p:cNvPr id="226" name="Shape 23"/>
          <p:cNvSpPr/>
          <p:nvPr/>
        </p:nvSpPr>
        <p:spPr>
          <a:xfrm>
            <a:off x="256032" y="4572000"/>
            <a:ext cx="86319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24"/>
          <p:cNvSpPr txBox="1"/>
          <p:nvPr/>
        </p:nvSpPr>
        <p:spPr>
          <a:xfrm>
            <a:off x="301752" y="4585760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Elastic Net</a:t>
            </a:r>
          </a:p>
        </p:txBody>
      </p:sp>
      <p:sp>
        <p:nvSpPr>
          <p:cNvPr id="228" name="Text 25"/>
          <p:cNvSpPr txBox="1"/>
          <p:nvPr/>
        </p:nvSpPr>
        <p:spPr>
          <a:xfrm>
            <a:off x="2679192" y="458716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0.953</a:t>
            </a:r>
          </a:p>
        </p:txBody>
      </p:sp>
      <p:sp>
        <p:nvSpPr>
          <p:cNvPr id="229" name="Text 26"/>
          <p:cNvSpPr txBox="1"/>
          <p:nvPr/>
        </p:nvSpPr>
        <p:spPr>
          <a:xfrm>
            <a:off x="4782311" y="458716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0.919</a:t>
            </a:r>
          </a:p>
        </p:txBody>
      </p:sp>
      <p:sp>
        <p:nvSpPr>
          <p:cNvPr id="230" name="Text 27"/>
          <p:cNvSpPr txBox="1"/>
          <p:nvPr/>
        </p:nvSpPr>
        <p:spPr>
          <a:xfrm>
            <a:off x="6611111" y="458716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0.890</a:t>
            </a:r>
          </a:p>
        </p:txBody>
      </p:sp>
      <p:sp>
        <p:nvSpPr>
          <p:cNvPr id="231" name="Shape 28"/>
          <p:cNvSpPr/>
          <p:nvPr/>
        </p:nvSpPr>
        <p:spPr>
          <a:xfrm>
            <a:off x="256032" y="4846320"/>
            <a:ext cx="8631936" cy="256033"/>
          </a:xfrm>
          <a:prstGeom prst="rect">
            <a:avLst/>
          </a:prstGeom>
          <a:solidFill>
            <a:srgbClr val="0E3D6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29"/>
          <p:cNvSpPr txBox="1"/>
          <p:nvPr/>
        </p:nvSpPr>
        <p:spPr>
          <a:xfrm>
            <a:off x="301752" y="4860080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4AA8C4"/>
                </a:solidFill>
              </a:defRPr>
            </a:lvl1pPr>
          </a:lstStyle>
          <a:p>
            <a:pPr/>
            <a:r>
              <a:t>Post-selection Logistic</a:t>
            </a:r>
          </a:p>
        </p:txBody>
      </p:sp>
      <p:sp>
        <p:nvSpPr>
          <p:cNvPr id="233" name="Text 30"/>
          <p:cNvSpPr txBox="1"/>
          <p:nvPr/>
        </p:nvSpPr>
        <p:spPr>
          <a:xfrm>
            <a:off x="2679192" y="486148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4AA8C4"/>
                </a:solidFill>
              </a:defRPr>
            </a:lvl1pPr>
          </a:lstStyle>
          <a:p>
            <a:pPr/>
            <a:r>
              <a:t>0.972</a:t>
            </a:r>
          </a:p>
        </p:txBody>
      </p:sp>
      <p:sp>
        <p:nvSpPr>
          <p:cNvPr id="234" name="Text 31"/>
          <p:cNvSpPr txBox="1"/>
          <p:nvPr/>
        </p:nvSpPr>
        <p:spPr>
          <a:xfrm>
            <a:off x="4782311" y="486148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4AA8C4"/>
                </a:solidFill>
              </a:defRPr>
            </a:lvl1pPr>
          </a:lstStyle>
          <a:p>
            <a:pPr/>
            <a:r>
              <a:t>0.927</a:t>
            </a:r>
          </a:p>
        </p:txBody>
      </p:sp>
      <p:sp>
        <p:nvSpPr>
          <p:cNvPr id="235" name="Text 32"/>
          <p:cNvSpPr txBox="1"/>
          <p:nvPr/>
        </p:nvSpPr>
        <p:spPr>
          <a:xfrm>
            <a:off x="6611111" y="4861482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4AA8C4"/>
                </a:solidFill>
              </a:defRPr>
            </a:lvl1pPr>
          </a:lstStyle>
          <a:p>
            <a:pPr/>
            <a:r>
              <a:t>0.923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"/>
          <p:cNvSpPr/>
          <p:nvPr/>
        </p:nvSpPr>
        <p:spPr>
          <a:xfrm>
            <a:off x="256031" y="201168"/>
            <a:ext cx="128016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2"/>
          <p:cNvSpPr txBox="1"/>
          <p:nvPr/>
        </p:nvSpPr>
        <p:spPr>
          <a:xfrm>
            <a:off x="256031" y="265683"/>
            <a:ext cx="12801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EXTRA PHASE</a:t>
            </a:r>
          </a:p>
        </p:txBody>
      </p:sp>
      <p:sp>
        <p:nvSpPr>
          <p:cNvPr id="240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Alternative Classifiers Comparison</a:t>
            </a:r>
          </a:p>
        </p:txBody>
      </p:sp>
      <p:sp>
        <p:nvSpPr>
          <p:cNvPr id="241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10 / 15</a:t>
            </a:r>
          </a:p>
        </p:txBody>
      </p:sp>
      <p:sp>
        <p:nvSpPr>
          <p:cNvPr id="243" name="Text 6"/>
          <p:cNvSpPr txBox="1"/>
          <p:nvPr/>
        </p:nvSpPr>
        <p:spPr>
          <a:xfrm>
            <a:off x="301752" y="1220015"/>
            <a:ext cx="85404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4A6070"/>
                </a:solidFill>
              </a:defRPr>
            </a:lvl1pPr>
          </a:lstStyle>
          <a:p>
            <a:pPr/>
            <a:r>
              <a:t>Same 65 selected features — does the classifier family matter?</a:t>
            </a:r>
          </a:p>
        </p:txBody>
      </p:sp>
      <p:sp>
        <p:nvSpPr>
          <p:cNvPr id="244" name="Text 7"/>
          <p:cNvSpPr txBox="1"/>
          <p:nvPr/>
        </p:nvSpPr>
        <p:spPr>
          <a:xfrm>
            <a:off x="301752" y="1587930"/>
            <a:ext cx="4480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Main test metrics</a:t>
            </a:r>
          </a:p>
        </p:txBody>
      </p:sp>
      <p:pic>
        <p:nvPicPr>
          <p:cNvPr id="24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31" y="1828800"/>
            <a:ext cx="4572001" cy="3063240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8"/>
          <p:cNvSpPr txBox="1"/>
          <p:nvPr/>
        </p:nvSpPr>
        <p:spPr>
          <a:xfrm>
            <a:off x="5029200" y="1587930"/>
            <a:ext cx="381304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Macro F1 ranking</a:t>
            </a:r>
          </a:p>
        </p:txBody>
      </p:sp>
      <p:pic>
        <p:nvPicPr>
          <p:cNvPr id="24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83479" y="1828800"/>
            <a:ext cx="3904489" cy="3063240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Shape 9"/>
          <p:cNvSpPr/>
          <p:nvPr/>
        </p:nvSpPr>
        <p:spPr>
          <a:xfrm>
            <a:off x="256032" y="4919471"/>
            <a:ext cx="8631936" cy="292609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0"/>
          <p:cNvSpPr txBox="1"/>
          <p:nvPr/>
        </p:nvSpPr>
        <p:spPr>
          <a:xfrm>
            <a:off x="365760" y="4951520"/>
            <a:ext cx="84124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RF: F1=0.949 (best accuracy) · SVM linear: bal.acc.=0.989 (best minority recall) · SVM RBF: C=1,γ=0.01 · k-NN: k=3, euclidean, uniform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1"/>
          <p:cNvSpPr/>
          <p:nvPr/>
        </p:nvSpPr>
        <p:spPr>
          <a:xfrm>
            <a:off x="256031" y="201168"/>
            <a:ext cx="256032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"/>
          <p:cNvSpPr txBox="1"/>
          <p:nvPr/>
        </p:nvSpPr>
        <p:spPr>
          <a:xfrm>
            <a:off x="256031" y="265683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III+ — HIGH DIMENSIONAL</a:t>
            </a:r>
          </a:p>
        </p:txBody>
      </p:sp>
      <p:sp>
        <p:nvSpPr>
          <p:cNvPr id="254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High-Dimensional Expansion: 2210 Features</a:t>
            </a:r>
          </a:p>
        </p:txBody>
      </p:sp>
      <p:sp>
        <p:nvSpPr>
          <p:cNvPr id="255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11 / 15</a:t>
            </a:r>
          </a:p>
        </p:txBody>
      </p:sp>
      <p:sp>
        <p:nvSpPr>
          <p:cNvPr id="257" name="Text 6"/>
          <p:cNvSpPr txBox="1"/>
          <p:nvPr/>
        </p:nvSpPr>
        <p:spPr>
          <a:xfrm>
            <a:off x="301751" y="1350329"/>
            <a:ext cx="457200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65 original + 65 squared + 2080 pairwise interactions = 2210 features</a:t>
            </a:r>
          </a:p>
        </p:txBody>
      </p:sp>
      <p:sp>
        <p:nvSpPr>
          <p:cNvPr id="258" name="Text 7"/>
          <p:cNvSpPr txBox="1"/>
          <p:nvPr/>
        </p:nvSpPr>
        <p:spPr>
          <a:xfrm>
            <a:off x="301751" y="1825817"/>
            <a:ext cx="457200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p/n = 2210/428 ≈ 5.16 → genuine p &gt;&gt; n regime</a:t>
            </a:r>
          </a:p>
        </p:txBody>
      </p:sp>
      <p:sp>
        <p:nvSpPr>
          <p:cNvPr id="259" name="Text 8"/>
          <p:cNvSpPr txBox="1"/>
          <p:nvPr/>
        </p:nvSpPr>
        <p:spPr>
          <a:xfrm>
            <a:off x="301751" y="2301305"/>
            <a:ext cx="457200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X'X is singular: rank deficiency ≥ 1782 — classical VIF undefined</a:t>
            </a:r>
          </a:p>
        </p:txBody>
      </p:sp>
      <p:sp>
        <p:nvSpPr>
          <p:cNvPr id="260" name="Text 9"/>
          <p:cNvSpPr txBox="1"/>
          <p:nvPr/>
        </p:nvSpPr>
        <p:spPr>
          <a:xfrm>
            <a:off x="301751" y="2776793"/>
            <a:ext cx="457200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▸  127,467 pairs with |r| ≥ 0.50; 1,945 pairs with |r| ≥ 0.90</a:t>
            </a:r>
          </a:p>
        </p:txBody>
      </p:sp>
      <p:sp>
        <p:nvSpPr>
          <p:cNvPr id="261" name="Shape 10"/>
          <p:cNvSpPr/>
          <p:nvPr/>
        </p:nvSpPr>
        <p:spPr>
          <a:xfrm>
            <a:off x="4983479" y="1261871"/>
            <a:ext cx="3904489" cy="35204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Text 11"/>
          <p:cNvSpPr txBox="1"/>
          <p:nvPr/>
        </p:nvSpPr>
        <p:spPr>
          <a:xfrm>
            <a:off x="5166360" y="1393751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4AA8C4"/>
                </a:solidFill>
              </a:defRPr>
            </a:lvl1pPr>
          </a:lstStyle>
          <a:p>
            <a:pPr/>
            <a:r>
              <a:t>65 vs 2210 features</a:t>
            </a:r>
          </a:p>
        </p:txBody>
      </p:sp>
      <p:sp>
        <p:nvSpPr>
          <p:cNvPr id="263" name="Shape 12"/>
          <p:cNvSpPr/>
          <p:nvPr/>
        </p:nvSpPr>
        <p:spPr>
          <a:xfrm>
            <a:off x="4983479" y="1764792"/>
            <a:ext cx="3904489" cy="402337"/>
          </a:xfrm>
          <a:prstGeom prst="rect">
            <a:avLst/>
          </a:prstGeom>
          <a:solidFill>
            <a:srgbClr val="1C5C80"/>
          </a:solidFill>
          <a:ln w="12700">
            <a:solidFill>
              <a:srgbClr val="1C5C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4"/>
          <p:cNvSpPr txBox="1"/>
          <p:nvPr/>
        </p:nvSpPr>
        <p:spPr>
          <a:xfrm>
            <a:off x="6355079" y="1863003"/>
            <a:ext cx="1143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65</a:t>
            </a:r>
          </a:p>
        </p:txBody>
      </p:sp>
      <p:sp>
        <p:nvSpPr>
          <p:cNvPr id="265" name="Text 15"/>
          <p:cNvSpPr txBox="1"/>
          <p:nvPr/>
        </p:nvSpPr>
        <p:spPr>
          <a:xfrm>
            <a:off x="7635239" y="1863003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2210</a:t>
            </a:r>
          </a:p>
        </p:txBody>
      </p:sp>
      <p:sp>
        <p:nvSpPr>
          <p:cNvPr id="266" name="Shape 16"/>
          <p:cNvSpPr/>
          <p:nvPr/>
        </p:nvSpPr>
        <p:spPr>
          <a:xfrm>
            <a:off x="4983479" y="2185416"/>
            <a:ext cx="3904489" cy="402337"/>
          </a:xfrm>
          <a:prstGeom prst="rect">
            <a:avLst/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7"/>
          <p:cNvSpPr txBox="1"/>
          <p:nvPr/>
        </p:nvSpPr>
        <p:spPr>
          <a:xfrm>
            <a:off x="5074920" y="2283627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p &gt; n</a:t>
            </a:r>
          </a:p>
        </p:txBody>
      </p:sp>
      <p:sp>
        <p:nvSpPr>
          <p:cNvPr id="268" name="Text 18"/>
          <p:cNvSpPr txBox="1"/>
          <p:nvPr/>
        </p:nvSpPr>
        <p:spPr>
          <a:xfrm>
            <a:off x="6355079" y="2283627"/>
            <a:ext cx="1143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No (p&lt;&lt;n)</a:t>
            </a:r>
          </a:p>
        </p:txBody>
      </p:sp>
      <p:sp>
        <p:nvSpPr>
          <p:cNvPr id="269" name="Text 19"/>
          <p:cNvSpPr txBox="1"/>
          <p:nvPr/>
        </p:nvSpPr>
        <p:spPr>
          <a:xfrm>
            <a:off x="7635239" y="2283627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Yes (p&gt;&gt;n)</a:t>
            </a:r>
          </a:p>
        </p:txBody>
      </p:sp>
      <p:sp>
        <p:nvSpPr>
          <p:cNvPr id="270" name="Shape 20"/>
          <p:cNvSpPr/>
          <p:nvPr/>
        </p:nvSpPr>
        <p:spPr>
          <a:xfrm>
            <a:off x="4983479" y="2606039"/>
            <a:ext cx="3904489" cy="402337"/>
          </a:xfrm>
          <a:prstGeom prst="rect">
            <a:avLst/>
          </a:prstGeom>
          <a:solidFill>
            <a:srgbClr val="162544"/>
          </a:solidFill>
          <a:ln w="12700">
            <a:solidFill>
              <a:srgbClr val="1625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21"/>
          <p:cNvSpPr txBox="1"/>
          <p:nvPr/>
        </p:nvSpPr>
        <p:spPr>
          <a:xfrm>
            <a:off x="5074920" y="2704251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VIF</a:t>
            </a:r>
          </a:p>
        </p:txBody>
      </p:sp>
      <p:sp>
        <p:nvSpPr>
          <p:cNvPr id="272" name="Text 22"/>
          <p:cNvSpPr txBox="1"/>
          <p:nvPr/>
        </p:nvSpPr>
        <p:spPr>
          <a:xfrm>
            <a:off x="6355079" y="2634401"/>
            <a:ext cx="114300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Computable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max=23</a:t>
            </a:r>
          </a:p>
        </p:txBody>
      </p:sp>
      <p:sp>
        <p:nvSpPr>
          <p:cNvPr id="273" name="Text 23"/>
          <p:cNvSpPr txBox="1"/>
          <p:nvPr/>
        </p:nvSpPr>
        <p:spPr>
          <a:xfrm>
            <a:off x="7635239" y="2634401"/>
            <a:ext cx="11430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Undefined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(X'X singular)</a:t>
            </a:r>
          </a:p>
        </p:txBody>
      </p:sp>
      <p:sp>
        <p:nvSpPr>
          <p:cNvPr id="274" name="Shape 24"/>
          <p:cNvSpPr/>
          <p:nvPr/>
        </p:nvSpPr>
        <p:spPr>
          <a:xfrm>
            <a:off x="4983479" y="3026664"/>
            <a:ext cx="3904489" cy="402337"/>
          </a:xfrm>
          <a:prstGeom prst="rect">
            <a:avLst/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25"/>
          <p:cNvSpPr txBox="1"/>
          <p:nvPr/>
        </p:nvSpPr>
        <p:spPr>
          <a:xfrm>
            <a:off x="5074920" y="3124875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Screening</a:t>
            </a:r>
          </a:p>
        </p:txBody>
      </p:sp>
      <p:sp>
        <p:nvSpPr>
          <p:cNvPr id="276" name="Text 26"/>
          <p:cNvSpPr txBox="1"/>
          <p:nvPr/>
        </p:nvSpPr>
        <p:spPr>
          <a:xfrm>
            <a:off x="6355079" y="3124875"/>
            <a:ext cx="1143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Not needed</a:t>
            </a:r>
          </a:p>
        </p:txBody>
      </p:sp>
      <p:sp>
        <p:nvSpPr>
          <p:cNvPr id="277" name="Text 27"/>
          <p:cNvSpPr txBox="1"/>
          <p:nvPr/>
        </p:nvSpPr>
        <p:spPr>
          <a:xfrm>
            <a:off x="7635239" y="3124875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SIS → top 300</a:t>
            </a:r>
          </a:p>
        </p:txBody>
      </p:sp>
      <p:sp>
        <p:nvSpPr>
          <p:cNvPr id="278" name="Shape 28"/>
          <p:cNvSpPr/>
          <p:nvPr/>
        </p:nvSpPr>
        <p:spPr>
          <a:xfrm>
            <a:off x="4983479" y="3447288"/>
            <a:ext cx="3904489" cy="402337"/>
          </a:xfrm>
          <a:prstGeom prst="rect">
            <a:avLst/>
          </a:prstGeom>
          <a:solidFill>
            <a:srgbClr val="162544"/>
          </a:solidFill>
          <a:ln w="12700">
            <a:solidFill>
              <a:srgbClr val="1625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29"/>
          <p:cNvSpPr txBox="1"/>
          <p:nvPr/>
        </p:nvSpPr>
        <p:spPr>
          <a:xfrm>
            <a:off x="5074920" y="3545499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Ridge baseline</a:t>
            </a:r>
          </a:p>
        </p:txBody>
      </p:sp>
      <p:sp>
        <p:nvSpPr>
          <p:cNvPr id="280" name="Text 30"/>
          <p:cNvSpPr txBox="1"/>
          <p:nvPr/>
        </p:nvSpPr>
        <p:spPr>
          <a:xfrm>
            <a:off x="6355079" y="3475649"/>
            <a:ext cx="114300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Acc. 0.953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F1 0.890</a:t>
            </a:r>
          </a:p>
        </p:txBody>
      </p:sp>
      <p:sp>
        <p:nvSpPr>
          <p:cNvPr id="281" name="Text 31"/>
          <p:cNvSpPr txBox="1"/>
          <p:nvPr/>
        </p:nvSpPr>
        <p:spPr>
          <a:xfrm>
            <a:off x="7635239" y="3475649"/>
            <a:ext cx="11430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Acc. 0.972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F1 0.929</a:t>
            </a:r>
          </a:p>
        </p:txBody>
      </p:sp>
      <p:sp>
        <p:nvSpPr>
          <p:cNvPr id="282" name="Shape 32"/>
          <p:cNvSpPr/>
          <p:nvPr/>
        </p:nvSpPr>
        <p:spPr>
          <a:xfrm>
            <a:off x="4983479" y="3867911"/>
            <a:ext cx="3904489" cy="402337"/>
          </a:xfrm>
          <a:prstGeom prst="rect">
            <a:avLst/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33"/>
          <p:cNvSpPr txBox="1"/>
          <p:nvPr/>
        </p:nvSpPr>
        <p:spPr>
          <a:xfrm>
            <a:off x="5074920" y="3966123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LASSO/EN selected</a:t>
            </a:r>
          </a:p>
        </p:txBody>
      </p:sp>
      <p:sp>
        <p:nvSpPr>
          <p:cNvPr id="284" name="Text 34"/>
          <p:cNvSpPr txBox="1"/>
          <p:nvPr/>
        </p:nvSpPr>
        <p:spPr>
          <a:xfrm>
            <a:off x="6355079" y="3966123"/>
            <a:ext cx="1143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65 (all)</a:t>
            </a:r>
          </a:p>
        </p:txBody>
      </p:sp>
      <p:sp>
        <p:nvSpPr>
          <p:cNvPr id="285" name="Text 35"/>
          <p:cNvSpPr txBox="1"/>
          <p:nvPr/>
        </p:nvSpPr>
        <p:spPr>
          <a:xfrm>
            <a:off x="7635239" y="3966123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234 / 253</a:t>
            </a:r>
          </a:p>
        </p:txBody>
      </p:sp>
      <p:sp>
        <p:nvSpPr>
          <p:cNvPr id="286" name="Shape 36"/>
          <p:cNvSpPr/>
          <p:nvPr/>
        </p:nvSpPr>
        <p:spPr>
          <a:xfrm>
            <a:off x="4983479" y="4288535"/>
            <a:ext cx="3904489" cy="402337"/>
          </a:xfrm>
          <a:prstGeom prst="rect">
            <a:avLst/>
          </a:prstGeom>
          <a:solidFill>
            <a:srgbClr val="162544"/>
          </a:solidFill>
          <a:ln w="12700">
            <a:solidFill>
              <a:srgbClr val="1625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37"/>
          <p:cNvSpPr txBox="1"/>
          <p:nvPr/>
        </p:nvSpPr>
        <p:spPr>
          <a:xfrm>
            <a:off x="5074920" y="4386747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Best test F1</a:t>
            </a:r>
          </a:p>
        </p:txBody>
      </p:sp>
      <p:sp>
        <p:nvSpPr>
          <p:cNvPr id="288" name="Text 38"/>
          <p:cNvSpPr txBox="1"/>
          <p:nvPr/>
        </p:nvSpPr>
        <p:spPr>
          <a:xfrm>
            <a:off x="6355079" y="4386747"/>
            <a:ext cx="1143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0.923</a:t>
            </a:r>
          </a:p>
        </p:txBody>
      </p:sp>
      <p:sp>
        <p:nvSpPr>
          <p:cNvPr id="289" name="Text 39"/>
          <p:cNvSpPr txBox="1"/>
          <p:nvPr/>
        </p:nvSpPr>
        <p:spPr>
          <a:xfrm>
            <a:off x="7635239" y="4386747"/>
            <a:ext cx="1143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E8F0"/>
                </a:solidFill>
              </a:defRPr>
            </a:lvl1pPr>
          </a:lstStyle>
          <a:p>
            <a:pPr/>
            <a:r>
              <a:t>1.000*</a:t>
            </a:r>
          </a:p>
        </p:txBody>
      </p:sp>
      <p:sp>
        <p:nvSpPr>
          <p:cNvPr id="290" name="Text 40"/>
          <p:cNvSpPr txBox="1"/>
          <p:nvPr/>
        </p:nvSpPr>
        <p:spPr>
          <a:xfrm>
            <a:off x="5029200" y="4784887"/>
            <a:ext cx="3813048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800">
                <a:solidFill>
                  <a:srgbClr val="6B8EA0"/>
                </a:solidFill>
              </a:defRPr>
            </a:lvl1pPr>
          </a:lstStyle>
          <a:p>
            <a:pPr/>
            <a:r>
              <a:t>* Perfect test F1=1.000 on HD — small test set (12 verbs, 8 adjectives), interpret cautiously</a:t>
            </a:r>
          </a:p>
        </p:txBody>
      </p:sp>
      <p:sp>
        <p:nvSpPr>
          <p:cNvPr id="291" name="Shape 41"/>
          <p:cNvSpPr/>
          <p:nvPr/>
        </p:nvSpPr>
        <p:spPr>
          <a:xfrm>
            <a:off x="256031" y="3291840"/>
            <a:ext cx="1371601" cy="749809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42"/>
          <p:cNvSpPr txBox="1"/>
          <p:nvPr/>
        </p:nvSpPr>
        <p:spPr>
          <a:xfrm>
            <a:off x="301752" y="3332279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SIS</a:t>
            </a:r>
          </a:p>
        </p:txBody>
      </p:sp>
      <p:sp>
        <p:nvSpPr>
          <p:cNvPr id="293" name="Text 43"/>
          <p:cNvSpPr txBox="1"/>
          <p:nvPr/>
        </p:nvSpPr>
        <p:spPr>
          <a:xfrm>
            <a:off x="301752" y="3612809"/>
            <a:ext cx="12801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Screen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2210→300</a:t>
            </a:r>
          </a:p>
        </p:txBody>
      </p:sp>
      <p:sp>
        <p:nvSpPr>
          <p:cNvPr id="294" name="Shape 44"/>
          <p:cNvSpPr/>
          <p:nvPr/>
        </p:nvSpPr>
        <p:spPr>
          <a:xfrm>
            <a:off x="1627632" y="3630167"/>
            <a:ext cx="164593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45"/>
          <p:cNvSpPr/>
          <p:nvPr/>
        </p:nvSpPr>
        <p:spPr>
          <a:xfrm>
            <a:off x="1792223" y="3291840"/>
            <a:ext cx="1371601" cy="749809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46"/>
          <p:cNvSpPr txBox="1"/>
          <p:nvPr/>
        </p:nvSpPr>
        <p:spPr>
          <a:xfrm>
            <a:off x="1837944" y="3332279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Regularise</a:t>
            </a:r>
          </a:p>
        </p:txBody>
      </p:sp>
      <p:sp>
        <p:nvSpPr>
          <p:cNvPr id="297" name="Text 47"/>
          <p:cNvSpPr txBox="1"/>
          <p:nvPr/>
        </p:nvSpPr>
        <p:spPr>
          <a:xfrm>
            <a:off x="1837944" y="3612809"/>
            <a:ext cx="12801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LASSO +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Elastic Net</a:t>
            </a:r>
          </a:p>
        </p:txBody>
      </p:sp>
      <p:sp>
        <p:nvSpPr>
          <p:cNvPr id="298" name="Shape 48"/>
          <p:cNvSpPr/>
          <p:nvPr/>
        </p:nvSpPr>
        <p:spPr>
          <a:xfrm>
            <a:off x="3163823" y="3630167"/>
            <a:ext cx="164593" cy="54865"/>
          </a:xfrm>
          <a:prstGeom prst="rect">
            <a:avLst/>
          </a:prstGeom>
          <a:solidFill>
            <a:srgbClr val="6B8EA0"/>
          </a:solidFill>
          <a:ln w="12700">
            <a:solidFill>
              <a:srgbClr val="6B8E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49"/>
          <p:cNvSpPr/>
          <p:nvPr/>
        </p:nvSpPr>
        <p:spPr>
          <a:xfrm>
            <a:off x="3328415" y="3291840"/>
            <a:ext cx="1371601" cy="749809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50"/>
          <p:cNvSpPr txBox="1"/>
          <p:nvPr/>
        </p:nvSpPr>
        <p:spPr>
          <a:xfrm>
            <a:off x="3374135" y="3332279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301" name="Text 51"/>
          <p:cNvSpPr txBox="1"/>
          <p:nvPr/>
        </p:nvSpPr>
        <p:spPr>
          <a:xfrm>
            <a:off x="3374135" y="3612809"/>
            <a:ext cx="12801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C8E8F0"/>
                </a:solidFill>
              </a:defRPr>
            </a:pPr>
            <a:r>
              <a:t>Post-sel.</a:t>
            </a:r>
          </a:p>
          <a:p>
            <a:pPr algn="ctr">
              <a:defRPr sz="900">
                <a:solidFill>
                  <a:srgbClr val="C8E8F0"/>
                </a:solidFill>
              </a:defRPr>
            </a:pPr>
            <a:r>
              <a:t>refit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hape 1"/>
          <p:cNvSpPr/>
          <p:nvPr/>
        </p:nvSpPr>
        <p:spPr>
          <a:xfrm>
            <a:off x="256031" y="201168"/>
            <a:ext cx="219456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2"/>
          <p:cNvSpPr txBox="1"/>
          <p:nvPr/>
        </p:nvSpPr>
        <p:spPr>
          <a:xfrm>
            <a:off x="256031" y="265683"/>
            <a:ext cx="2194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III+ — SCREENING</a:t>
            </a:r>
          </a:p>
        </p:txBody>
      </p:sp>
      <p:sp>
        <p:nvSpPr>
          <p:cNvPr id="306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Feature Screening on 2210 Features</a:t>
            </a:r>
          </a:p>
        </p:txBody>
      </p:sp>
      <p:sp>
        <p:nvSpPr>
          <p:cNvPr id="307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12 / 15</a:t>
            </a:r>
          </a:p>
        </p:txBody>
      </p:sp>
      <p:sp>
        <p:nvSpPr>
          <p:cNvPr id="309" name="Text 6"/>
          <p:cNvSpPr txBox="1"/>
          <p:nvPr/>
        </p:nvSpPr>
        <p:spPr>
          <a:xfrm>
            <a:off x="301752" y="1220015"/>
            <a:ext cx="85404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4A6070"/>
                </a:solidFill>
              </a:defRPr>
            </a:lvl1pPr>
          </a:lstStyle>
          <a:p>
            <a:pPr/>
            <a:r>
              <a:t>Combined screening (ANOVA F-score + Mutual Information + class-mean contrast) → top 300 retained</a:t>
            </a:r>
          </a:p>
        </p:txBody>
      </p:sp>
      <p:pic>
        <p:nvPicPr>
          <p:cNvPr id="3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31" y="1554480"/>
            <a:ext cx="4572001" cy="3291841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hape 7"/>
          <p:cNvSpPr/>
          <p:nvPr/>
        </p:nvSpPr>
        <p:spPr>
          <a:xfrm>
            <a:off x="5029200" y="1536191"/>
            <a:ext cx="3858768" cy="331013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Text 8"/>
          <p:cNvSpPr txBox="1"/>
          <p:nvPr/>
        </p:nvSpPr>
        <p:spPr>
          <a:xfrm>
            <a:off x="5212079" y="1658927"/>
            <a:ext cx="34747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4AA8C4"/>
                </a:solidFill>
              </a:defRPr>
            </a:lvl1pPr>
          </a:lstStyle>
          <a:p>
            <a:pPr/>
            <a:r>
              <a:t>Top 10 screened features</a:t>
            </a:r>
          </a:p>
        </p:txBody>
      </p:sp>
      <p:sp>
        <p:nvSpPr>
          <p:cNvPr id="313" name="Text 9"/>
          <p:cNvSpPr txBox="1"/>
          <p:nvPr/>
        </p:nvSpPr>
        <p:spPr>
          <a:xfrm>
            <a:off x="5212079" y="2018451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#1</a:t>
            </a:r>
          </a:p>
        </p:txBody>
      </p:sp>
      <p:sp>
        <p:nvSpPr>
          <p:cNvPr id="314" name="Text 10"/>
          <p:cNvSpPr txBox="1"/>
          <p:nvPr/>
        </p:nvSpPr>
        <p:spPr>
          <a:xfrm>
            <a:off x="5623560" y="2007152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practice_x_human</a:t>
            </a:r>
          </a:p>
        </p:txBody>
      </p:sp>
      <p:sp>
        <p:nvSpPr>
          <p:cNvPr id="315" name="Text 11"/>
          <p:cNvSpPr txBox="1"/>
          <p:nvPr/>
        </p:nvSpPr>
        <p:spPr>
          <a:xfrm>
            <a:off x="5212079" y="2301915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#2</a:t>
            </a:r>
          </a:p>
        </p:txBody>
      </p:sp>
      <p:sp>
        <p:nvSpPr>
          <p:cNvPr id="316" name="Text 12"/>
          <p:cNvSpPr txBox="1"/>
          <p:nvPr/>
        </p:nvSpPr>
        <p:spPr>
          <a:xfrm>
            <a:off x="5623560" y="2290616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short_x_human</a:t>
            </a:r>
          </a:p>
        </p:txBody>
      </p:sp>
      <p:sp>
        <p:nvSpPr>
          <p:cNvPr id="317" name="Text 13"/>
          <p:cNvSpPr txBox="1"/>
          <p:nvPr/>
        </p:nvSpPr>
        <p:spPr>
          <a:xfrm>
            <a:off x="5212079" y="2585379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#3</a:t>
            </a:r>
          </a:p>
        </p:txBody>
      </p:sp>
      <p:sp>
        <p:nvSpPr>
          <p:cNvPr id="318" name="Text 14"/>
          <p:cNvSpPr txBox="1"/>
          <p:nvPr/>
        </p:nvSpPr>
        <p:spPr>
          <a:xfrm>
            <a:off x="5623560" y="2574080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practice_x_caused</a:t>
            </a:r>
          </a:p>
        </p:txBody>
      </p:sp>
      <p:sp>
        <p:nvSpPr>
          <p:cNvPr id="319" name="Text 15"/>
          <p:cNvSpPr txBox="1"/>
          <p:nvPr/>
        </p:nvSpPr>
        <p:spPr>
          <a:xfrm>
            <a:off x="5212079" y="2868843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#4</a:t>
            </a:r>
          </a:p>
        </p:txBody>
      </p:sp>
      <p:sp>
        <p:nvSpPr>
          <p:cNvPr id="320" name="Text 16"/>
          <p:cNvSpPr txBox="1"/>
          <p:nvPr/>
        </p:nvSpPr>
        <p:spPr>
          <a:xfrm>
            <a:off x="5623560" y="2857544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practice_x_short</a:t>
            </a:r>
          </a:p>
        </p:txBody>
      </p:sp>
      <p:sp>
        <p:nvSpPr>
          <p:cNvPr id="321" name="Text 17"/>
          <p:cNvSpPr txBox="1"/>
          <p:nvPr/>
        </p:nvSpPr>
        <p:spPr>
          <a:xfrm>
            <a:off x="5212079" y="3152307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#5</a:t>
            </a:r>
          </a:p>
        </p:txBody>
      </p:sp>
      <p:sp>
        <p:nvSpPr>
          <p:cNvPr id="322" name="Text 18"/>
          <p:cNvSpPr txBox="1"/>
          <p:nvPr/>
        </p:nvSpPr>
        <p:spPr>
          <a:xfrm>
            <a:off x="5623560" y="3141008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practice_x_consequential</a:t>
            </a:r>
          </a:p>
        </p:txBody>
      </p:sp>
      <p:sp>
        <p:nvSpPr>
          <p:cNvPr id="323" name="Text 19"/>
          <p:cNvSpPr txBox="1"/>
          <p:nvPr/>
        </p:nvSpPr>
        <p:spPr>
          <a:xfrm>
            <a:off x="5212079" y="3435770"/>
            <a:ext cx="2743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#6</a:t>
            </a:r>
          </a:p>
        </p:txBody>
      </p:sp>
      <p:sp>
        <p:nvSpPr>
          <p:cNvPr id="324" name="Text 20"/>
          <p:cNvSpPr txBox="1"/>
          <p:nvPr/>
        </p:nvSpPr>
        <p:spPr>
          <a:xfrm>
            <a:off x="5623560" y="3424472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biomotion_x_short</a:t>
            </a:r>
          </a:p>
        </p:txBody>
      </p:sp>
      <p:sp>
        <p:nvSpPr>
          <p:cNvPr id="325" name="Text 21"/>
          <p:cNvSpPr txBox="1"/>
          <p:nvPr/>
        </p:nvSpPr>
        <p:spPr>
          <a:xfrm>
            <a:off x="5212079" y="3719235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#7</a:t>
            </a:r>
          </a:p>
        </p:txBody>
      </p:sp>
      <p:sp>
        <p:nvSpPr>
          <p:cNvPr id="326" name="Text 22"/>
          <p:cNvSpPr txBox="1"/>
          <p:nvPr/>
        </p:nvSpPr>
        <p:spPr>
          <a:xfrm>
            <a:off x="5623560" y="3707936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short_x_self</a:t>
            </a:r>
          </a:p>
        </p:txBody>
      </p:sp>
      <p:sp>
        <p:nvSpPr>
          <p:cNvPr id="327" name="Text 23"/>
          <p:cNvSpPr txBox="1"/>
          <p:nvPr/>
        </p:nvSpPr>
        <p:spPr>
          <a:xfrm>
            <a:off x="5212079" y="4002699"/>
            <a:ext cx="2743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#8</a:t>
            </a:r>
          </a:p>
        </p:txBody>
      </p:sp>
      <p:sp>
        <p:nvSpPr>
          <p:cNvPr id="328" name="Text 24"/>
          <p:cNvSpPr txBox="1"/>
          <p:nvPr/>
        </p:nvSpPr>
        <p:spPr>
          <a:xfrm>
            <a:off x="5623560" y="3991400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near_x_short</a:t>
            </a:r>
          </a:p>
        </p:txBody>
      </p:sp>
      <p:sp>
        <p:nvSpPr>
          <p:cNvPr id="329" name="Text 25"/>
          <p:cNvSpPr txBox="1"/>
          <p:nvPr/>
        </p:nvSpPr>
        <p:spPr>
          <a:xfrm>
            <a:off x="5212079" y="4286162"/>
            <a:ext cx="2743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#9</a:t>
            </a:r>
          </a:p>
        </p:txBody>
      </p:sp>
      <p:sp>
        <p:nvSpPr>
          <p:cNvPr id="330" name="Text 26"/>
          <p:cNvSpPr txBox="1"/>
          <p:nvPr/>
        </p:nvSpPr>
        <p:spPr>
          <a:xfrm>
            <a:off x="5623560" y="4274864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practice_x_self</a:t>
            </a:r>
          </a:p>
        </p:txBody>
      </p:sp>
      <p:sp>
        <p:nvSpPr>
          <p:cNvPr id="331" name="Text 27"/>
          <p:cNvSpPr txBox="1"/>
          <p:nvPr/>
        </p:nvSpPr>
        <p:spPr>
          <a:xfrm>
            <a:off x="5212079" y="4569626"/>
            <a:ext cx="2743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#10</a:t>
            </a:r>
          </a:p>
        </p:txBody>
      </p:sp>
      <p:sp>
        <p:nvSpPr>
          <p:cNvPr id="332" name="Text 28"/>
          <p:cNvSpPr txBox="1"/>
          <p:nvPr/>
        </p:nvSpPr>
        <p:spPr>
          <a:xfrm>
            <a:off x="5623560" y="4558328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body_x_short</a:t>
            </a:r>
          </a:p>
        </p:txBody>
      </p:sp>
      <p:sp>
        <p:nvSpPr>
          <p:cNvPr id="333" name="Text 29"/>
          <p:cNvSpPr txBox="1"/>
          <p:nvPr/>
        </p:nvSpPr>
        <p:spPr>
          <a:xfrm>
            <a:off x="301752" y="4914944"/>
            <a:ext cx="854049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B8EA0"/>
                </a:solidFill>
              </a:defRPr>
            </a:lvl1pPr>
          </a:lstStyle>
          <a:p>
            <a:pPr/>
            <a:r>
              <a:t>Interaction terms dominate: class discrimination is encoded in combined semantic profiles, not isolated dimensions.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Shape 1"/>
          <p:cNvSpPr/>
          <p:nvPr/>
        </p:nvSpPr>
        <p:spPr>
          <a:xfrm>
            <a:off x="256031" y="201168"/>
            <a:ext cx="219456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2"/>
          <p:cNvSpPr txBox="1"/>
          <p:nvPr/>
        </p:nvSpPr>
        <p:spPr>
          <a:xfrm>
            <a:off x="256031" y="265683"/>
            <a:ext cx="2194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PHASE IV — CLUSTER LABELS</a:t>
            </a:r>
          </a:p>
        </p:txBody>
      </p:sp>
      <p:sp>
        <p:nvSpPr>
          <p:cNvPr id="338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Supervised Analysis with K-Means Labels</a:t>
            </a:r>
          </a:p>
        </p:txBody>
      </p:sp>
      <p:sp>
        <p:nvSpPr>
          <p:cNvPr id="339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13 / 15</a:t>
            </a:r>
          </a:p>
        </p:txBody>
      </p:sp>
      <p:sp>
        <p:nvSpPr>
          <p:cNvPr id="341" name="Text 6"/>
          <p:cNvSpPr txBox="1"/>
          <p:nvPr/>
        </p:nvSpPr>
        <p:spPr>
          <a:xfrm>
            <a:off x="301752" y="1229159"/>
            <a:ext cx="85404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4A6070"/>
                </a:solidFill>
              </a:defRPr>
            </a:lvl1pPr>
          </a:lstStyle>
          <a:p>
            <a:pPr/>
            <a:r>
              <a:t>What if we use the K-Means K=3 clusters as target labels instead of the original word classes?</a:t>
            </a:r>
          </a:p>
        </p:txBody>
      </p:sp>
      <p:sp>
        <p:nvSpPr>
          <p:cNvPr id="342" name="Shape 7"/>
          <p:cNvSpPr/>
          <p:nvPr/>
        </p:nvSpPr>
        <p:spPr>
          <a:xfrm>
            <a:off x="256031" y="1572767"/>
            <a:ext cx="4114801" cy="27432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8"/>
          <p:cNvSpPr txBox="1"/>
          <p:nvPr/>
        </p:nvSpPr>
        <p:spPr>
          <a:xfrm>
            <a:off x="301751" y="1595672"/>
            <a:ext cx="12344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Cluster</a:t>
            </a:r>
          </a:p>
        </p:txBody>
      </p:sp>
      <p:sp>
        <p:nvSpPr>
          <p:cNvPr id="344" name="Text 9"/>
          <p:cNvSpPr txBox="1"/>
          <p:nvPr/>
        </p:nvSpPr>
        <p:spPr>
          <a:xfrm>
            <a:off x="1673352" y="1595672"/>
            <a:ext cx="12344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Train</a:t>
            </a:r>
          </a:p>
        </p:txBody>
      </p:sp>
      <p:sp>
        <p:nvSpPr>
          <p:cNvPr id="345" name="Text 10"/>
          <p:cNvSpPr txBox="1"/>
          <p:nvPr/>
        </p:nvSpPr>
        <p:spPr>
          <a:xfrm>
            <a:off x="3044952" y="1595672"/>
            <a:ext cx="12344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346" name="Shape 11"/>
          <p:cNvSpPr/>
          <p:nvPr/>
        </p:nvSpPr>
        <p:spPr>
          <a:xfrm>
            <a:off x="256031" y="1874520"/>
            <a:ext cx="4114801" cy="310897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12"/>
          <p:cNvSpPr txBox="1"/>
          <p:nvPr/>
        </p:nvSpPr>
        <p:spPr>
          <a:xfrm>
            <a:off x="301751" y="1915712"/>
            <a:ext cx="1234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Cluster_01</a:t>
            </a:r>
          </a:p>
        </p:txBody>
      </p:sp>
      <p:sp>
        <p:nvSpPr>
          <p:cNvPr id="348" name="Text 13"/>
          <p:cNvSpPr txBox="1"/>
          <p:nvPr/>
        </p:nvSpPr>
        <p:spPr>
          <a:xfrm>
            <a:off x="1673352" y="1915712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67 (15.7%)</a:t>
            </a:r>
          </a:p>
        </p:txBody>
      </p:sp>
      <p:sp>
        <p:nvSpPr>
          <p:cNvPr id="349" name="Text 14"/>
          <p:cNvSpPr txBox="1"/>
          <p:nvPr/>
        </p:nvSpPr>
        <p:spPr>
          <a:xfrm>
            <a:off x="3044952" y="1915712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21 (19.6%)</a:t>
            </a:r>
          </a:p>
        </p:txBody>
      </p:sp>
      <p:sp>
        <p:nvSpPr>
          <p:cNvPr id="350" name="Shape 15"/>
          <p:cNvSpPr/>
          <p:nvPr/>
        </p:nvSpPr>
        <p:spPr>
          <a:xfrm>
            <a:off x="256031" y="2203704"/>
            <a:ext cx="4114801" cy="31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6"/>
          <p:cNvSpPr txBox="1"/>
          <p:nvPr/>
        </p:nvSpPr>
        <p:spPr>
          <a:xfrm>
            <a:off x="301751" y="2244896"/>
            <a:ext cx="1234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Cluster_02</a:t>
            </a:r>
          </a:p>
        </p:txBody>
      </p:sp>
      <p:sp>
        <p:nvSpPr>
          <p:cNvPr id="352" name="Text 17"/>
          <p:cNvSpPr txBox="1"/>
          <p:nvPr/>
        </p:nvSpPr>
        <p:spPr>
          <a:xfrm>
            <a:off x="1673352" y="2244896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183 (42.8%)</a:t>
            </a:r>
          </a:p>
        </p:txBody>
      </p:sp>
      <p:sp>
        <p:nvSpPr>
          <p:cNvPr id="353" name="Text 18"/>
          <p:cNvSpPr txBox="1"/>
          <p:nvPr/>
        </p:nvSpPr>
        <p:spPr>
          <a:xfrm>
            <a:off x="3044952" y="2244896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34 (31.8%)</a:t>
            </a:r>
          </a:p>
        </p:txBody>
      </p:sp>
      <p:sp>
        <p:nvSpPr>
          <p:cNvPr id="354" name="Shape 19"/>
          <p:cNvSpPr/>
          <p:nvPr/>
        </p:nvSpPr>
        <p:spPr>
          <a:xfrm>
            <a:off x="256031" y="2532888"/>
            <a:ext cx="4114801" cy="310897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20"/>
          <p:cNvSpPr txBox="1"/>
          <p:nvPr/>
        </p:nvSpPr>
        <p:spPr>
          <a:xfrm>
            <a:off x="301751" y="2574080"/>
            <a:ext cx="1234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Cluster_03</a:t>
            </a:r>
          </a:p>
        </p:txBody>
      </p:sp>
      <p:sp>
        <p:nvSpPr>
          <p:cNvPr id="356" name="Text 21"/>
          <p:cNvSpPr txBox="1"/>
          <p:nvPr/>
        </p:nvSpPr>
        <p:spPr>
          <a:xfrm>
            <a:off x="1673352" y="257408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178 (41.6%)</a:t>
            </a:r>
          </a:p>
        </p:txBody>
      </p:sp>
      <p:sp>
        <p:nvSpPr>
          <p:cNvPr id="357" name="Text 22"/>
          <p:cNvSpPr txBox="1"/>
          <p:nvPr/>
        </p:nvSpPr>
        <p:spPr>
          <a:xfrm>
            <a:off x="3044952" y="257408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6070"/>
                </a:solidFill>
              </a:defRPr>
            </a:lvl1pPr>
          </a:lstStyle>
          <a:p>
            <a:pPr/>
            <a:r>
              <a:t>52 (48.6%)</a:t>
            </a:r>
          </a:p>
        </p:txBody>
      </p:sp>
      <p:sp>
        <p:nvSpPr>
          <p:cNvPr id="358" name="Text 23"/>
          <p:cNvSpPr txBox="1"/>
          <p:nvPr/>
        </p:nvSpPr>
        <p:spPr>
          <a:xfrm>
            <a:off x="301752" y="2968674"/>
            <a:ext cx="4023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D1B3E"/>
                </a:solidFill>
              </a:defRPr>
            </a:lvl1pPr>
          </a:lstStyle>
          <a:p>
            <a:pPr/>
            <a:r>
              <a:t>Cluster-label model performance (test set)</a:t>
            </a:r>
          </a:p>
        </p:txBody>
      </p:sp>
      <p:sp>
        <p:nvSpPr>
          <p:cNvPr id="359" name="Shape 24"/>
          <p:cNvSpPr/>
          <p:nvPr/>
        </p:nvSpPr>
        <p:spPr>
          <a:xfrm>
            <a:off x="256031" y="3291840"/>
            <a:ext cx="4114801" cy="237744"/>
          </a:xfrm>
          <a:prstGeom prst="rect">
            <a:avLst/>
          </a:prstGeom>
          <a:solidFill>
            <a:srgbClr val="0D1B3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25"/>
          <p:cNvSpPr txBox="1"/>
          <p:nvPr/>
        </p:nvSpPr>
        <p:spPr>
          <a:xfrm>
            <a:off x="301752" y="3307755"/>
            <a:ext cx="987553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361" name="Text 26"/>
          <p:cNvSpPr txBox="1"/>
          <p:nvPr/>
        </p:nvSpPr>
        <p:spPr>
          <a:xfrm>
            <a:off x="1417319" y="3307755"/>
            <a:ext cx="8686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Acc.</a:t>
            </a:r>
          </a:p>
        </p:txBody>
      </p:sp>
      <p:sp>
        <p:nvSpPr>
          <p:cNvPr id="362" name="Text 27"/>
          <p:cNvSpPr txBox="1"/>
          <p:nvPr/>
        </p:nvSpPr>
        <p:spPr>
          <a:xfrm>
            <a:off x="2423160" y="3307755"/>
            <a:ext cx="8686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Bal.Acc.</a:t>
            </a:r>
          </a:p>
        </p:txBody>
      </p:sp>
      <p:sp>
        <p:nvSpPr>
          <p:cNvPr id="363" name="Text 28"/>
          <p:cNvSpPr txBox="1"/>
          <p:nvPr/>
        </p:nvSpPr>
        <p:spPr>
          <a:xfrm>
            <a:off x="3429000" y="3307755"/>
            <a:ext cx="8686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F1</a:t>
            </a:r>
          </a:p>
        </p:txBody>
      </p:sp>
      <p:sp>
        <p:nvSpPr>
          <p:cNvPr id="364" name="Shape 29"/>
          <p:cNvSpPr/>
          <p:nvPr/>
        </p:nvSpPr>
        <p:spPr>
          <a:xfrm>
            <a:off x="256031" y="3547871"/>
            <a:ext cx="4114801" cy="237744"/>
          </a:xfrm>
          <a:prstGeom prst="rect">
            <a:avLst/>
          </a:prstGeom>
          <a:solidFill>
            <a:srgbClr val="0E3D6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30"/>
          <p:cNvSpPr txBox="1"/>
          <p:nvPr/>
        </p:nvSpPr>
        <p:spPr>
          <a:xfrm>
            <a:off x="301752" y="3563787"/>
            <a:ext cx="98755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Baseline</a:t>
            </a:r>
          </a:p>
        </p:txBody>
      </p:sp>
      <p:sp>
        <p:nvSpPr>
          <p:cNvPr id="366" name="Text 31"/>
          <p:cNvSpPr txBox="1"/>
          <p:nvPr/>
        </p:nvSpPr>
        <p:spPr>
          <a:xfrm>
            <a:off x="1417319" y="3563787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0.981</a:t>
            </a:r>
          </a:p>
        </p:txBody>
      </p:sp>
      <p:sp>
        <p:nvSpPr>
          <p:cNvPr id="367" name="Text 32"/>
          <p:cNvSpPr txBox="1"/>
          <p:nvPr/>
        </p:nvSpPr>
        <p:spPr>
          <a:xfrm>
            <a:off x="2423160" y="3563787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0.974</a:t>
            </a:r>
          </a:p>
        </p:txBody>
      </p:sp>
      <p:sp>
        <p:nvSpPr>
          <p:cNvPr id="368" name="Text 33"/>
          <p:cNvSpPr txBox="1"/>
          <p:nvPr/>
        </p:nvSpPr>
        <p:spPr>
          <a:xfrm>
            <a:off x="3429000" y="3563787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0.979</a:t>
            </a:r>
          </a:p>
        </p:txBody>
      </p:sp>
      <p:sp>
        <p:nvSpPr>
          <p:cNvPr id="369" name="Shape 34"/>
          <p:cNvSpPr/>
          <p:nvPr/>
        </p:nvSpPr>
        <p:spPr>
          <a:xfrm>
            <a:off x="256031" y="3803903"/>
            <a:ext cx="4114801" cy="237744"/>
          </a:xfrm>
          <a:prstGeom prst="rect">
            <a:avLst/>
          </a:prstGeom>
          <a:solidFill>
            <a:srgbClr val="F4F8FA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35"/>
          <p:cNvSpPr txBox="1"/>
          <p:nvPr/>
        </p:nvSpPr>
        <p:spPr>
          <a:xfrm>
            <a:off x="301752" y="3819819"/>
            <a:ext cx="98755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LASSO</a:t>
            </a:r>
          </a:p>
        </p:txBody>
      </p:sp>
      <p:sp>
        <p:nvSpPr>
          <p:cNvPr id="371" name="Text 36"/>
          <p:cNvSpPr txBox="1"/>
          <p:nvPr/>
        </p:nvSpPr>
        <p:spPr>
          <a:xfrm>
            <a:off x="1417319" y="3819819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0.972</a:t>
            </a:r>
          </a:p>
        </p:txBody>
      </p:sp>
      <p:sp>
        <p:nvSpPr>
          <p:cNvPr id="372" name="Text 37"/>
          <p:cNvSpPr txBox="1"/>
          <p:nvPr/>
        </p:nvSpPr>
        <p:spPr>
          <a:xfrm>
            <a:off x="2423160" y="3819819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0.958</a:t>
            </a:r>
          </a:p>
        </p:txBody>
      </p:sp>
      <p:sp>
        <p:nvSpPr>
          <p:cNvPr id="373" name="Text 38"/>
          <p:cNvSpPr txBox="1"/>
          <p:nvPr/>
        </p:nvSpPr>
        <p:spPr>
          <a:xfrm>
            <a:off x="3429000" y="3819819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A6070"/>
                </a:solidFill>
              </a:defRPr>
            </a:lvl1pPr>
          </a:lstStyle>
          <a:p>
            <a:pPr/>
            <a:r>
              <a:t>0.967</a:t>
            </a:r>
          </a:p>
        </p:txBody>
      </p:sp>
      <p:sp>
        <p:nvSpPr>
          <p:cNvPr id="374" name="Shape 39"/>
          <p:cNvSpPr/>
          <p:nvPr/>
        </p:nvSpPr>
        <p:spPr>
          <a:xfrm>
            <a:off x="256031" y="4059935"/>
            <a:ext cx="4114801" cy="237744"/>
          </a:xfrm>
          <a:prstGeom prst="rect">
            <a:avLst/>
          </a:prstGeom>
          <a:solidFill>
            <a:srgbClr val="0E3D6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40"/>
          <p:cNvSpPr txBox="1"/>
          <p:nvPr/>
        </p:nvSpPr>
        <p:spPr>
          <a:xfrm>
            <a:off x="301752" y="4075851"/>
            <a:ext cx="98755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Elastic Net</a:t>
            </a:r>
          </a:p>
        </p:txBody>
      </p:sp>
      <p:sp>
        <p:nvSpPr>
          <p:cNvPr id="376" name="Text 41"/>
          <p:cNvSpPr txBox="1"/>
          <p:nvPr/>
        </p:nvSpPr>
        <p:spPr>
          <a:xfrm>
            <a:off x="1417319" y="4075851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0.981</a:t>
            </a:r>
          </a:p>
        </p:txBody>
      </p:sp>
      <p:sp>
        <p:nvSpPr>
          <p:cNvPr id="377" name="Text 42"/>
          <p:cNvSpPr txBox="1"/>
          <p:nvPr/>
        </p:nvSpPr>
        <p:spPr>
          <a:xfrm>
            <a:off x="2423160" y="4075851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0.974</a:t>
            </a:r>
          </a:p>
        </p:txBody>
      </p:sp>
      <p:sp>
        <p:nvSpPr>
          <p:cNvPr id="378" name="Text 43"/>
          <p:cNvSpPr txBox="1"/>
          <p:nvPr/>
        </p:nvSpPr>
        <p:spPr>
          <a:xfrm>
            <a:off x="3429000" y="4075851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0.979</a:t>
            </a:r>
          </a:p>
        </p:txBody>
      </p:sp>
      <p:sp>
        <p:nvSpPr>
          <p:cNvPr id="379" name="Shape 44"/>
          <p:cNvSpPr/>
          <p:nvPr/>
        </p:nvSpPr>
        <p:spPr>
          <a:xfrm>
            <a:off x="256031" y="4315967"/>
            <a:ext cx="4114801" cy="237744"/>
          </a:xfrm>
          <a:prstGeom prst="rect">
            <a:avLst/>
          </a:prstGeom>
          <a:solidFill>
            <a:srgbClr val="0E3D6E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45"/>
          <p:cNvSpPr txBox="1"/>
          <p:nvPr/>
        </p:nvSpPr>
        <p:spPr>
          <a:xfrm>
            <a:off x="301752" y="4331883"/>
            <a:ext cx="98755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Post-sel. (53 feat.)</a:t>
            </a:r>
          </a:p>
        </p:txBody>
      </p:sp>
      <p:sp>
        <p:nvSpPr>
          <p:cNvPr id="381" name="Text 46"/>
          <p:cNvSpPr txBox="1"/>
          <p:nvPr/>
        </p:nvSpPr>
        <p:spPr>
          <a:xfrm>
            <a:off x="1417319" y="4331883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0.981</a:t>
            </a:r>
          </a:p>
        </p:txBody>
      </p:sp>
      <p:sp>
        <p:nvSpPr>
          <p:cNvPr id="382" name="Text 47"/>
          <p:cNvSpPr txBox="1"/>
          <p:nvPr/>
        </p:nvSpPr>
        <p:spPr>
          <a:xfrm>
            <a:off x="2423160" y="4331883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0.974</a:t>
            </a:r>
          </a:p>
        </p:txBody>
      </p:sp>
      <p:sp>
        <p:nvSpPr>
          <p:cNvPr id="383" name="Text 48"/>
          <p:cNvSpPr txBox="1"/>
          <p:nvPr/>
        </p:nvSpPr>
        <p:spPr>
          <a:xfrm>
            <a:off x="3429000" y="4331883"/>
            <a:ext cx="868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4AA8C4"/>
                </a:solidFill>
              </a:defRPr>
            </a:lvl1pPr>
          </a:lstStyle>
          <a:p>
            <a:pPr/>
            <a:r>
              <a:t>0.979</a:t>
            </a:r>
          </a:p>
        </p:txBody>
      </p:sp>
      <p:sp>
        <p:nvSpPr>
          <p:cNvPr id="384" name="Shape 49"/>
          <p:cNvSpPr/>
          <p:nvPr/>
        </p:nvSpPr>
        <p:spPr>
          <a:xfrm>
            <a:off x="4572000" y="1536191"/>
            <a:ext cx="4315968" cy="333756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" name="Text 50"/>
          <p:cNvSpPr txBox="1"/>
          <p:nvPr/>
        </p:nvSpPr>
        <p:spPr>
          <a:xfrm>
            <a:off x="4754879" y="1663123"/>
            <a:ext cx="393192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4AA8C4"/>
                </a:solidFill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386" name="Text 51"/>
          <p:cNvSpPr txBox="1"/>
          <p:nvPr/>
        </p:nvSpPr>
        <p:spPr>
          <a:xfrm>
            <a:off x="4754879" y="2161599"/>
            <a:ext cx="393192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▸  Clusters are more balanced than original labels — easier to classify</a:t>
            </a:r>
          </a:p>
        </p:txBody>
      </p:sp>
      <p:sp>
        <p:nvSpPr>
          <p:cNvPr id="387" name="Text 52"/>
          <p:cNvSpPr txBox="1"/>
          <p:nvPr/>
        </p:nvSpPr>
        <p:spPr>
          <a:xfrm>
            <a:off x="4754879" y="2636833"/>
            <a:ext cx="3931920" cy="413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▸  High F1 (0.979) confirms the semantic feature space encodes cluster structure well</a:t>
            </a:r>
          </a:p>
        </p:txBody>
      </p:sp>
      <p:sp>
        <p:nvSpPr>
          <p:cNvPr id="388" name="Text 53"/>
          <p:cNvSpPr txBox="1"/>
          <p:nvPr/>
        </p:nvSpPr>
        <p:spPr>
          <a:xfrm>
            <a:off x="4754879" y="3277167"/>
            <a:ext cx="393192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▸  Original labels (Thing/Action/Property): best F1 = 0.923</a:t>
            </a:r>
          </a:p>
        </p:txBody>
      </p:sp>
      <p:sp>
        <p:nvSpPr>
          <p:cNvPr id="389" name="Text 54"/>
          <p:cNvSpPr txBox="1"/>
          <p:nvPr/>
        </p:nvSpPr>
        <p:spPr>
          <a:xfrm>
            <a:off x="4754879" y="3752401"/>
            <a:ext cx="3931920" cy="413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▸  Cluster labels: F1 = 0.979 — semantic space fits its own clusters better than linguistic categories</a:t>
            </a:r>
          </a:p>
        </p:txBody>
      </p:sp>
      <p:sp>
        <p:nvSpPr>
          <p:cNvPr id="390" name="Text 55"/>
          <p:cNvSpPr txBox="1"/>
          <p:nvPr/>
        </p:nvSpPr>
        <p:spPr>
          <a:xfrm>
            <a:off x="4754879" y="4310185"/>
            <a:ext cx="3931920" cy="413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8E8F0"/>
                </a:solidFill>
              </a:defRPr>
            </a:lvl1pPr>
          </a:lstStyle>
          <a:p>
            <a:pPr/>
            <a:r>
              <a:t>▸  Confirms: grammar ≠ semantic similarity, but both are grounded in the Binder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-1" y="0"/>
            <a:ext cx="82298" cy="5143500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Shape 1"/>
          <p:cNvSpPr/>
          <p:nvPr/>
        </p:nvSpPr>
        <p:spPr>
          <a:xfrm>
            <a:off x="256031" y="201168"/>
            <a:ext cx="1097282" cy="256032"/>
          </a:xfrm>
          <a:prstGeom prst="rect">
            <a:avLst/>
          </a:prstGeom>
          <a:solidFill>
            <a:srgbClr val="1C6E8C"/>
          </a:solidFill>
          <a:ln w="12700">
            <a:solidFill>
              <a:srgbClr val="1C6E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2"/>
          <p:cNvSpPr txBox="1"/>
          <p:nvPr/>
        </p:nvSpPr>
        <p:spPr>
          <a:xfrm>
            <a:off x="256031" y="26568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395" name="Text 3"/>
          <p:cNvSpPr txBox="1"/>
          <p:nvPr/>
        </p:nvSpPr>
        <p:spPr>
          <a:xfrm>
            <a:off x="301752" y="581268"/>
            <a:ext cx="859536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D1B3E"/>
                </a:solidFill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396" name="Shape 4"/>
          <p:cNvSpPr/>
          <p:nvPr/>
        </p:nvSpPr>
        <p:spPr>
          <a:xfrm>
            <a:off x="256031" y="1115567"/>
            <a:ext cx="8686801" cy="27433"/>
          </a:xfrm>
          <a:prstGeom prst="rect">
            <a:avLst/>
          </a:prstGeom>
          <a:solidFill>
            <a:srgbClr val="C8E8F0"/>
          </a:solidFill>
          <a:ln w="12700">
            <a:solidFill>
              <a:srgbClr val="C8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Text 5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14 / 15</a:t>
            </a:r>
          </a:p>
        </p:txBody>
      </p:sp>
      <p:sp>
        <p:nvSpPr>
          <p:cNvPr id="398" name="Shape 6"/>
          <p:cNvSpPr/>
          <p:nvPr/>
        </p:nvSpPr>
        <p:spPr>
          <a:xfrm>
            <a:off x="256031" y="1325880"/>
            <a:ext cx="4160522" cy="1664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Shape 7"/>
          <p:cNvSpPr/>
          <p:nvPr/>
        </p:nvSpPr>
        <p:spPr>
          <a:xfrm>
            <a:off x="365759" y="1463039"/>
            <a:ext cx="475489" cy="475489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8"/>
          <p:cNvSpPr txBox="1"/>
          <p:nvPr/>
        </p:nvSpPr>
        <p:spPr>
          <a:xfrm>
            <a:off x="365759" y="1596206"/>
            <a:ext cx="4754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AA8C4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1" name="Text 9"/>
          <p:cNvSpPr txBox="1"/>
          <p:nvPr/>
        </p:nvSpPr>
        <p:spPr>
          <a:xfrm>
            <a:off x="978408" y="1503479"/>
            <a:ext cx="327355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3E"/>
                </a:solidFill>
              </a:defRPr>
            </a:lvl1pPr>
          </a:lstStyle>
          <a:p>
            <a:pPr/>
            <a:r>
              <a:t>Semantic features are highly predictive</a:t>
            </a:r>
          </a:p>
        </p:txBody>
      </p:sp>
      <p:sp>
        <p:nvSpPr>
          <p:cNvPr id="402" name="Text 10"/>
          <p:cNvSpPr txBox="1"/>
          <p:nvPr/>
        </p:nvSpPr>
        <p:spPr>
          <a:xfrm>
            <a:off x="978408" y="2168320"/>
            <a:ext cx="327355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Post-selection logistic: 97.2% accuracy, Macro F1 0.923. Far above the 81.3% dummy majority (F1=0.299).</a:t>
            </a:r>
          </a:p>
        </p:txBody>
      </p:sp>
      <p:sp>
        <p:nvSpPr>
          <p:cNvPr id="403" name="Shape 11"/>
          <p:cNvSpPr/>
          <p:nvPr/>
        </p:nvSpPr>
        <p:spPr>
          <a:xfrm>
            <a:off x="256031" y="3136392"/>
            <a:ext cx="416052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4" name="Shape 12"/>
          <p:cNvSpPr/>
          <p:nvPr/>
        </p:nvSpPr>
        <p:spPr>
          <a:xfrm>
            <a:off x="365759" y="3273552"/>
            <a:ext cx="475489" cy="475489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13"/>
          <p:cNvSpPr txBox="1"/>
          <p:nvPr/>
        </p:nvSpPr>
        <p:spPr>
          <a:xfrm>
            <a:off x="365759" y="3406719"/>
            <a:ext cx="4754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AA8C4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06" name="Text 14"/>
          <p:cNvSpPr txBox="1"/>
          <p:nvPr/>
        </p:nvSpPr>
        <p:spPr>
          <a:xfrm>
            <a:off x="978408" y="3313991"/>
            <a:ext cx="327355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3E"/>
                </a:solidFill>
              </a:defRPr>
            </a:lvl1pPr>
          </a:lstStyle>
          <a:p>
            <a:pPr/>
            <a:r>
              <a:t>Clusters ≠ grammatical classes</a:t>
            </a:r>
          </a:p>
        </p:txBody>
      </p:sp>
      <p:sp>
        <p:nvSpPr>
          <p:cNvPr id="407" name="Text 15"/>
          <p:cNvSpPr txBox="1"/>
          <p:nvPr/>
        </p:nvSpPr>
        <p:spPr>
          <a:xfrm>
            <a:off x="978408" y="3978832"/>
            <a:ext cx="327355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K-Means K=3 ARI=0.03, AHC ARI=−0.07. Semantic space captures fine-grained domains, not grammar.</a:t>
            </a:r>
          </a:p>
        </p:txBody>
      </p:sp>
      <p:sp>
        <p:nvSpPr>
          <p:cNvPr id="408" name="Shape 16"/>
          <p:cNvSpPr/>
          <p:nvPr/>
        </p:nvSpPr>
        <p:spPr>
          <a:xfrm>
            <a:off x="4645152" y="1325880"/>
            <a:ext cx="4160521" cy="1664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9" name="Shape 17"/>
          <p:cNvSpPr/>
          <p:nvPr/>
        </p:nvSpPr>
        <p:spPr>
          <a:xfrm>
            <a:off x="4754879" y="1463039"/>
            <a:ext cx="475489" cy="475489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18"/>
          <p:cNvSpPr txBox="1"/>
          <p:nvPr/>
        </p:nvSpPr>
        <p:spPr>
          <a:xfrm>
            <a:off x="4754879" y="1596206"/>
            <a:ext cx="47548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AA8C4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1" name="Text 19"/>
          <p:cNvSpPr txBox="1"/>
          <p:nvPr/>
        </p:nvSpPr>
        <p:spPr>
          <a:xfrm>
            <a:off x="5367528" y="1503479"/>
            <a:ext cx="327355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3E"/>
                </a:solidFill>
              </a:defRPr>
            </a:lvl1pPr>
          </a:lstStyle>
          <a:p>
            <a:pPr/>
            <a:r>
              <a:t>Random Forest leads; linear models competitive</a:t>
            </a:r>
          </a:p>
        </p:txBody>
      </p:sp>
      <p:sp>
        <p:nvSpPr>
          <p:cNvPr id="412" name="Text 20"/>
          <p:cNvSpPr txBox="1"/>
          <p:nvPr/>
        </p:nvSpPr>
        <p:spPr>
          <a:xfrm>
            <a:off x="5367528" y="2168320"/>
            <a:ext cx="327355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RF: F1=0.949. SVM linear: best balanced acc. (0.989). Post-sel. logistic: F1=0.923, fully interpretable.</a:t>
            </a:r>
          </a:p>
        </p:txBody>
      </p:sp>
      <p:sp>
        <p:nvSpPr>
          <p:cNvPr id="413" name="Shape 21"/>
          <p:cNvSpPr/>
          <p:nvPr/>
        </p:nvSpPr>
        <p:spPr>
          <a:xfrm>
            <a:off x="4645152" y="3136392"/>
            <a:ext cx="4160521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4" name="Shape 22"/>
          <p:cNvSpPr/>
          <p:nvPr/>
        </p:nvSpPr>
        <p:spPr>
          <a:xfrm>
            <a:off x="4754879" y="3273552"/>
            <a:ext cx="475489" cy="475489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23"/>
          <p:cNvSpPr txBox="1"/>
          <p:nvPr/>
        </p:nvSpPr>
        <p:spPr>
          <a:xfrm>
            <a:off x="4754879" y="3406719"/>
            <a:ext cx="47548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AA8C4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6" name="Text 24"/>
          <p:cNvSpPr txBox="1"/>
          <p:nvPr/>
        </p:nvSpPr>
        <p:spPr>
          <a:xfrm>
            <a:off x="5367528" y="3313991"/>
            <a:ext cx="327355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3E"/>
                </a:solidFill>
              </a:defRPr>
            </a:lvl1pPr>
          </a:lstStyle>
          <a:p>
            <a:pPr/>
            <a:r>
              <a:t>Interaction terms are the strongest HD predictors</a:t>
            </a:r>
          </a:p>
        </p:txBody>
      </p:sp>
      <p:sp>
        <p:nvSpPr>
          <p:cNvPr id="417" name="Text 25"/>
          <p:cNvSpPr txBox="1"/>
          <p:nvPr/>
        </p:nvSpPr>
        <p:spPr>
          <a:xfrm>
            <a:off x="5367528" y="3896282"/>
            <a:ext cx="3273552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6070"/>
                </a:solidFill>
              </a:defRPr>
            </a:lvl1pPr>
          </a:lstStyle>
          <a:p>
            <a:pPr/>
            <a:r>
              <a:t>practice_x_human, short_x_human, biomotion_x_short dominate screening. Class info lies in semantic combinations.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 txBox="1"/>
          <p:nvPr/>
        </p:nvSpPr>
        <p:spPr>
          <a:xfrm>
            <a:off x="8092439" y="4848895"/>
            <a:ext cx="7315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6B8EA0"/>
                </a:solidFill>
              </a:defRPr>
            </a:lvl1pPr>
          </a:lstStyle>
          <a:p>
            <a:pPr/>
            <a:r>
              <a:t>15 / 15</a:t>
            </a:r>
          </a:p>
        </p:txBody>
      </p:sp>
      <p:sp>
        <p:nvSpPr>
          <p:cNvPr id="420" name="Shape 1"/>
          <p:cNvSpPr/>
          <p:nvPr/>
        </p:nvSpPr>
        <p:spPr>
          <a:xfrm>
            <a:off x="-457200" y="-457200"/>
            <a:ext cx="5029200" cy="5029200"/>
          </a:xfrm>
          <a:prstGeom prst="ellipse">
            <a:avLst/>
          </a:prstGeom>
          <a:solidFill>
            <a:srgbClr val="1C6E8C">
              <a:alpha val="15000"/>
            </a:srgbClr>
          </a:solidFill>
          <a:ln w="12700">
            <a:solidFill>
              <a:srgbClr val="1C6E8C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4AA8C4">
              <a:alpha val="10000"/>
            </a:srgbClr>
          </a:solidFill>
          <a:ln w="12700">
            <a:solidFill>
              <a:srgbClr val="4AA8C4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3"/>
          <p:cNvSpPr txBox="1"/>
          <p:nvPr/>
        </p:nvSpPr>
        <p:spPr>
          <a:xfrm>
            <a:off x="502919" y="385959"/>
            <a:ext cx="813816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3000">
                <a:solidFill>
                  <a:srgbClr val="FFFFFF"/>
                </a:solidFill>
              </a:defRPr>
            </a:lvl1pPr>
          </a:lstStyle>
          <a:p>
            <a:pPr/>
            <a:r>
              <a:t>Conclusions</a:t>
            </a:r>
          </a:p>
        </p:txBody>
      </p:sp>
      <p:sp>
        <p:nvSpPr>
          <p:cNvPr id="423" name="Shape 4"/>
          <p:cNvSpPr/>
          <p:nvPr/>
        </p:nvSpPr>
        <p:spPr>
          <a:xfrm>
            <a:off x="457200" y="969263"/>
            <a:ext cx="8229600" cy="27433"/>
          </a:xfrm>
          <a:prstGeom prst="rect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Shape 5"/>
          <p:cNvSpPr/>
          <p:nvPr/>
        </p:nvSpPr>
        <p:spPr>
          <a:xfrm>
            <a:off x="457200" y="1152144"/>
            <a:ext cx="256032" cy="256033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6"/>
          <p:cNvSpPr txBox="1"/>
          <p:nvPr/>
        </p:nvSpPr>
        <p:spPr>
          <a:xfrm>
            <a:off x="868680" y="1267636"/>
            <a:ext cx="7955279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8E8F0"/>
                </a:solidFill>
              </a:defRPr>
            </a:lvl1pPr>
          </a:lstStyle>
          <a:p>
            <a:pPr/>
            <a:r>
              <a:t>Primitive semantic features reliably predict grammatical word class: accuracy 95.3% (baseline) → 97.2% (post-selection), Macro F1 0.890 → 0.923.</a:t>
            </a:r>
          </a:p>
        </p:txBody>
      </p:sp>
      <p:sp>
        <p:nvSpPr>
          <p:cNvPr id="426" name="Shape 7"/>
          <p:cNvSpPr/>
          <p:nvPr/>
        </p:nvSpPr>
        <p:spPr>
          <a:xfrm>
            <a:off x="457200" y="1847088"/>
            <a:ext cx="256032" cy="256033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Text 8"/>
          <p:cNvSpPr txBox="1"/>
          <p:nvPr/>
        </p:nvSpPr>
        <p:spPr>
          <a:xfrm>
            <a:off x="868680" y="1962580"/>
            <a:ext cx="7955279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8E8F0"/>
                </a:solidFill>
              </a:defRPr>
            </a:lvl1pPr>
          </a:lstStyle>
          <a:p>
            <a:pPr/>
            <a:r>
              <a:t>Clustering does NOT recover grammatical structure (ARI≈0.03 / −0.07) — the semantic space encodes conceptual similarity, not morphosyntax.</a:t>
            </a:r>
          </a:p>
        </p:txBody>
      </p:sp>
      <p:sp>
        <p:nvSpPr>
          <p:cNvPr id="428" name="Shape 9"/>
          <p:cNvSpPr/>
          <p:nvPr/>
        </p:nvSpPr>
        <p:spPr>
          <a:xfrm>
            <a:off x="457200" y="2542032"/>
            <a:ext cx="256032" cy="256033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10"/>
          <p:cNvSpPr txBox="1"/>
          <p:nvPr/>
        </p:nvSpPr>
        <p:spPr>
          <a:xfrm>
            <a:off x="868680" y="2657524"/>
            <a:ext cx="7955279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8E8F0"/>
                </a:solidFill>
              </a:defRPr>
            </a:lvl1pPr>
          </a:lstStyle>
          <a:p>
            <a:pPr/>
            <a:r>
              <a:t>Regularisation does not induce sparsity at p=65: LASSO/Elastic Net keep all features active. Post-selection L2 refit provides the best final linear model.</a:t>
            </a:r>
          </a:p>
        </p:txBody>
      </p:sp>
      <p:sp>
        <p:nvSpPr>
          <p:cNvPr id="430" name="Shape 11"/>
          <p:cNvSpPr/>
          <p:nvPr/>
        </p:nvSpPr>
        <p:spPr>
          <a:xfrm>
            <a:off x="457200" y="3236976"/>
            <a:ext cx="256032" cy="256033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12"/>
          <p:cNvSpPr txBox="1"/>
          <p:nvPr/>
        </p:nvSpPr>
        <p:spPr>
          <a:xfrm>
            <a:off x="868680" y="3352468"/>
            <a:ext cx="7955279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8E8F0"/>
                </a:solidFill>
              </a:defRPr>
            </a:lvl1pPr>
          </a:lstStyle>
          <a:p>
            <a:pPr/>
            <a:r>
              <a:t>Random Forest (F1=0.949) is the best single classifier; SVM linear achieves the best balanced accuracy (0.989). Linear models remain strongly competitive.</a:t>
            </a:r>
          </a:p>
        </p:txBody>
      </p:sp>
      <p:sp>
        <p:nvSpPr>
          <p:cNvPr id="432" name="Shape 13"/>
          <p:cNvSpPr/>
          <p:nvPr/>
        </p:nvSpPr>
        <p:spPr>
          <a:xfrm>
            <a:off x="457200" y="3931920"/>
            <a:ext cx="256032" cy="256033"/>
          </a:xfrm>
          <a:prstGeom prst="ellipse">
            <a:avLst/>
          </a:prstGeom>
          <a:solidFill>
            <a:srgbClr val="4AA8C4"/>
          </a:solidFill>
          <a:ln w="12700">
            <a:solidFill>
              <a:srgbClr val="4AA8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14"/>
          <p:cNvSpPr txBox="1"/>
          <p:nvPr/>
        </p:nvSpPr>
        <p:spPr>
          <a:xfrm>
            <a:off x="868680" y="4047412"/>
            <a:ext cx="7955279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8E8F0"/>
                </a:solidFill>
              </a:defRPr>
            </a:lvl1pPr>
          </a:lstStyle>
          <a:p>
            <a:pPr/>
            <a:r>
              <a:t>HD expansion (2210 features, p&gt;&gt;n) with screening + regularisation exposes interaction-based semantic structure. Strongest predictors are semantic combinations (practice_x_human, biomotion_x_short…).</a:t>
            </a:r>
          </a:p>
        </p:txBody>
      </p:sp>
      <p:sp>
        <p:nvSpPr>
          <p:cNvPr id="434" name="Text 15"/>
          <p:cNvSpPr txBox="1"/>
          <p:nvPr/>
        </p:nvSpPr>
        <p:spPr>
          <a:xfrm>
            <a:off x="502919" y="4651056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400">
                <a:solidFill>
                  <a:srgbClr val="4AA8C4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435" name="Text 16"/>
          <p:cNvSpPr txBox="1"/>
          <p:nvPr/>
        </p:nvSpPr>
        <p:spPr>
          <a:xfrm>
            <a:off x="502919" y="4688499"/>
            <a:ext cx="8321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B8EA0"/>
                </a:solidFill>
              </a:defRPr>
            </a:lvl1pPr>
          </a:lstStyle>
          <a:p>
            <a:pPr/>
            <a:r>
              <a:t>Deodati &amp; Pratelli · SLLD Module 2 · Sant'Anna School of Advanced Studies · A.Y. 2025–2026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